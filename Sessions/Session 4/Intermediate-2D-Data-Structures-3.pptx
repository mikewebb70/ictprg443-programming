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67" r:id="rId5"/>
    <p:sldId id="298" r:id="rId6"/>
    <p:sldId id="299" r:id="rId7"/>
    <p:sldId id="301" r:id="rId8"/>
    <p:sldId id="302" r:id="rId9"/>
    <p:sldId id="303" r:id="rId10"/>
    <p:sldId id="304" r:id="rId11"/>
    <p:sldId id="305" r:id="rId12"/>
    <p:sldId id="300" r:id="rId13"/>
    <p:sldId id="311" r:id="rId14"/>
    <p:sldId id="312" r:id="rId15"/>
    <p:sldId id="308" r:id="rId16"/>
    <p:sldId id="310" r:id="rId17"/>
    <p:sldId id="309" r:id="rId18"/>
  </p:sldIdLst>
  <p:sldSz cx="12192000" cy="6858000"/>
  <p:notesSz cx="7104063" cy="10234613"/>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67"/>
            <p14:sldId id="298"/>
            <p14:sldId id="299"/>
            <p14:sldId id="301"/>
            <p14:sldId id="302"/>
            <p14:sldId id="303"/>
            <p14:sldId id="304"/>
            <p14:sldId id="305"/>
            <p14:sldId id="300"/>
            <p14:sldId id="311"/>
            <p14:sldId id="312"/>
            <p14:sldId id="308"/>
            <p14:sldId id="310"/>
            <p14:sldId id="30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D9262E"/>
    <a:srgbClr val="C00000"/>
    <a:srgbClr val="CC0000"/>
    <a:srgbClr val="D8262E"/>
    <a:srgbClr val="000000"/>
    <a:srgbClr val="D81C24"/>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3" autoAdjust="0"/>
    <p:restoredTop sz="89777" autoAdjust="0"/>
  </p:normalViewPr>
  <p:slideViewPr>
    <p:cSldViewPr snapToGrid="0" snapToObjects="1">
      <p:cViewPr varScale="1">
        <p:scale>
          <a:sx n="99" d="100"/>
          <a:sy n="99" d="100"/>
        </p:scale>
        <p:origin x="1128" y="90"/>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7/27/2026</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745334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Creating multidimensional lists (which can function as 2D, 3D, etc., data structures) in Python can be achieved through the concept of nested lists. A list is a versatile data structure in Python which can contain elements of different data types, including other lists.</a:t>
            </a:r>
          </a:p>
          <a:p>
            <a:endParaRPr lang="en-AU" b="0" i="0" dirty="0">
              <a:solidFill>
                <a:srgbClr val="D1D5DB"/>
              </a:solidFill>
              <a:effectLst/>
              <a:latin typeface="Söhne"/>
            </a:endParaRPr>
          </a:p>
          <a:p>
            <a:pPr algn="l"/>
            <a:r>
              <a:rPr lang="en-AU" b="1" i="0" dirty="0">
                <a:solidFill>
                  <a:srgbClr val="D1D5DB"/>
                </a:solidFill>
                <a:effectLst/>
                <a:latin typeface="Söhne"/>
              </a:rPr>
              <a:t>Applications of Multidimensional Lists:</a:t>
            </a:r>
            <a:endParaRPr lang="en-AU" b="0" i="0" dirty="0">
              <a:solidFill>
                <a:srgbClr val="D1D5DB"/>
              </a:solidFill>
              <a:effectLst/>
              <a:latin typeface="Söhne"/>
            </a:endParaRPr>
          </a:p>
          <a:p>
            <a:pPr algn="l">
              <a:buFont typeface="Arial" panose="020B0604020202020204" pitchFamily="34" charset="0"/>
              <a:buChar char="•"/>
            </a:pPr>
            <a:r>
              <a:rPr lang="en-AU" b="0" i="0" dirty="0">
                <a:solidFill>
                  <a:srgbClr val="D1D5DB"/>
                </a:solidFill>
                <a:effectLst/>
                <a:latin typeface="Söhne"/>
              </a:rPr>
              <a:t>Representing data: In fields like data science and machine learning, multidimensional lists are often used to represent and manipulate data. For instance, a 2D list can represent a matrix or a data table.</a:t>
            </a:r>
          </a:p>
          <a:p>
            <a:pPr algn="l">
              <a:buFont typeface="Arial" panose="020B0604020202020204" pitchFamily="34" charset="0"/>
              <a:buChar char="•"/>
            </a:pPr>
            <a:r>
              <a:rPr lang="en-AU" b="0" i="0" dirty="0">
                <a:solidFill>
                  <a:srgbClr val="D1D5DB"/>
                </a:solidFill>
                <a:effectLst/>
                <a:latin typeface="Söhne"/>
              </a:rPr>
              <a:t>Spatial problems: In game development or graphics programming, 2D and 3D lists can be used to represent grids or spatial coordinates.</a:t>
            </a:r>
          </a:p>
          <a:p>
            <a:pPr algn="l">
              <a:buFont typeface="Arial" panose="020B0604020202020204" pitchFamily="34" charset="0"/>
              <a:buChar char="•"/>
            </a:pPr>
            <a:r>
              <a:rPr lang="en-AU" b="0" i="0" dirty="0">
                <a:solidFill>
                  <a:srgbClr val="D1D5DB"/>
                </a:solidFill>
                <a:effectLst/>
                <a:latin typeface="Söhne"/>
              </a:rPr>
              <a:t>Graphs and trees: In more advanced data structures, multidimensional lists can represent graphs or trees.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3203382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students can understand which subscript corresponds to rows (first one) and which to columns and why. </a:t>
            </a:r>
          </a:p>
          <a:p>
            <a:r>
              <a:rPr lang="en-US" dirty="0"/>
              <a:t>Ensure students write list and are able to access elements by number</a:t>
            </a:r>
          </a:p>
          <a:p>
            <a:r>
              <a:rPr lang="en-US" dirty="0"/>
              <a:t>Show that python allows us to write it on multiple lines…</a:t>
            </a:r>
          </a:p>
        </p:txBody>
      </p:sp>
      <p:sp>
        <p:nvSpPr>
          <p:cNvPr id="4" name="Slide Number Placeholder 3"/>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1146248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lists are the same, but python allows us to use whitespaces without semantic meaning within brackets square, curly, or round and this can enhance readability.</a:t>
            </a:r>
          </a:p>
        </p:txBody>
      </p:sp>
      <p:sp>
        <p:nvSpPr>
          <p:cNvPr id="4" name="Slide Number Placeholder 3"/>
          <p:cNvSpPr>
            <a:spLocks noGrp="1"/>
          </p:cNvSpPr>
          <p:nvPr>
            <p:ph type="sldNum" sz="quarter" idx="5"/>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214156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D1D5DB"/>
                </a:solidFill>
                <a:effectLst/>
                <a:latin typeface="Söhne"/>
              </a:rPr>
              <a:t>demonstrates a common pattern in programming known as "nested looping", specifically with 2D data structures like lists of lists (which can be thought of as a matrix or a grid).</a:t>
            </a:r>
          </a:p>
          <a:p>
            <a:pPr algn="l"/>
            <a:r>
              <a:rPr lang="en-AU" b="0" i="0" dirty="0">
                <a:solidFill>
                  <a:srgbClr val="D1D5DB"/>
                </a:solidFill>
                <a:effectLst/>
                <a:latin typeface="Söhne"/>
              </a:rPr>
              <a:t>The for loops iterate over each row of the </a:t>
            </a:r>
            <a:r>
              <a:rPr lang="en-AU" b="0" i="0" dirty="0" err="1">
                <a:solidFill>
                  <a:srgbClr val="D1D5DB"/>
                </a:solidFill>
                <a:effectLst/>
                <a:latin typeface="Söhne"/>
              </a:rPr>
              <a:t>two_dim_list</a:t>
            </a:r>
            <a:r>
              <a:rPr lang="en-AU" b="0" i="0" dirty="0">
                <a:solidFill>
                  <a:srgbClr val="D1D5DB"/>
                </a:solidFill>
                <a:effectLst/>
                <a:latin typeface="Söhne"/>
              </a:rPr>
              <a:t>, and then for each row, they iterate over each element within that row. This pattern is often used to traverse 2D data structures where you need to access every element. The outer for loop goes through each sub-list (row), while the inner for loop goes through each element within the current sub-list.</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3974097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do a list comprehension (1 level)</a:t>
            </a:r>
          </a:p>
          <a:p>
            <a:endParaRPr lang="en-US" dirty="0"/>
          </a:p>
          <a:p>
            <a:r>
              <a:rPr lang="en-US" dirty="0"/>
              <a:t>for </a:t>
            </a:r>
            <a:r>
              <a:rPr lang="en-US" dirty="0" err="1"/>
              <a:t>i</a:t>
            </a:r>
            <a:r>
              <a:rPr lang="en-US" dirty="0"/>
              <a:t> in range(rows):</a:t>
            </a:r>
          </a:p>
          <a:p>
            <a:r>
              <a:rPr lang="en-US" dirty="0"/>
              <a:t>    row = [(i+1)*(j+1) for j in range(cols)]</a:t>
            </a:r>
          </a:p>
          <a:p>
            <a:r>
              <a:rPr lang="en-US" dirty="0"/>
              <a:t>    </a:t>
            </a:r>
            <a:r>
              <a:rPr lang="en-US" dirty="0" err="1"/>
              <a:t>two_dim_list.append</a:t>
            </a:r>
            <a:r>
              <a:rPr lang="en-US" dirty="0"/>
              <a:t>(row)</a:t>
            </a:r>
          </a:p>
          <a:p>
            <a:endParaRPr lang="en-US" dirty="0"/>
          </a:p>
          <a:p>
            <a:endParaRPr lang="en-US" dirty="0"/>
          </a:p>
          <a:p>
            <a:r>
              <a:rPr lang="en-US" dirty="0"/>
              <a:t>Or 2 levels:</a:t>
            </a:r>
          </a:p>
          <a:p>
            <a:r>
              <a:rPr lang="en-US" dirty="0" err="1"/>
              <a:t>two_dim_list</a:t>
            </a:r>
            <a:r>
              <a:rPr lang="en-US" dirty="0"/>
              <a:t> = [[(i+1)*(j+1) for j in range(cols)] for </a:t>
            </a:r>
            <a:r>
              <a:rPr lang="en-US" dirty="0" err="1"/>
              <a:t>i</a:t>
            </a:r>
            <a:r>
              <a:rPr lang="en-US" dirty="0"/>
              <a:t> in range(rows)]</a:t>
            </a:r>
          </a:p>
          <a:p>
            <a:endParaRPr lang="en-US" dirty="0"/>
          </a:p>
          <a:p>
            <a:r>
              <a:rPr lang="en-US" dirty="0"/>
              <a:t>Or an empty list (do as exercise and ask students to think about why they might want to create something like that…</a:t>
            </a:r>
            <a:br>
              <a:rPr lang="en-US" dirty="0"/>
            </a:br>
            <a:r>
              <a:rPr lang="en-US" dirty="0"/>
              <a:t>tic-tac-toe comes to mind…</a:t>
            </a:r>
            <a:br>
              <a:rPr lang="en-US" dirty="0"/>
            </a:br>
            <a:br>
              <a:rPr lang="en-US" dirty="0"/>
            </a:br>
            <a:r>
              <a:rPr lang="en-AU" b="0" dirty="0">
                <a:solidFill>
                  <a:srgbClr val="9CDCFE"/>
                </a:solidFill>
                <a:effectLst/>
                <a:latin typeface="Agave" panose="020B0509030604020203" pitchFamily="49" charset="0"/>
              </a:rPr>
              <a:t>w</a:t>
            </a:r>
            <a:r>
              <a:rPr lang="en-AU" b="0" dirty="0">
                <a:solidFill>
                  <a:srgbClr val="CCCCCC"/>
                </a:solidFill>
                <a:effectLst/>
                <a:latin typeface="Agave" panose="020B0509030604020203" pitchFamily="49" charset="0"/>
              </a:rPr>
              <a:t>, </a:t>
            </a:r>
            <a:r>
              <a:rPr lang="en-AU" b="0" dirty="0">
                <a:solidFill>
                  <a:srgbClr val="9CDCFE"/>
                </a:solidFill>
                <a:effectLst/>
                <a:latin typeface="Agave" panose="020B0509030604020203" pitchFamily="49" charset="0"/>
              </a:rPr>
              <a:t>h</a:t>
            </a:r>
            <a:r>
              <a:rPr lang="en-AU" b="0" dirty="0">
                <a:solidFill>
                  <a:srgbClr val="CCCCCC"/>
                </a:solidFill>
                <a:effectLst/>
                <a:latin typeface="Agave" panose="020B0509030604020203" pitchFamily="49" charset="0"/>
              </a:rPr>
              <a:t> </a:t>
            </a:r>
            <a:r>
              <a:rPr lang="en-AU" b="0" dirty="0">
                <a:solidFill>
                  <a:srgbClr val="D4D4D4"/>
                </a:solidFill>
                <a:effectLst/>
                <a:latin typeface="Agave" panose="020B0509030604020203" pitchFamily="49" charset="0"/>
              </a:rPr>
              <a:t>=</a:t>
            </a:r>
            <a:r>
              <a:rPr lang="en-AU" b="0" dirty="0">
                <a:solidFill>
                  <a:srgbClr val="CCCCCC"/>
                </a:solidFill>
                <a:effectLst/>
                <a:latin typeface="Agave" panose="020B0509030604020203" pitchFamily="49" charset="0"/>
              </a:rPr>
              <a:t> </a:t>
            </a:r>
            <a:r>
              <a:rPr lang="en-AU" b="0" dirty="0">
                <a:solidFill>
                  <a:srgbClr val="B5CEA8"/>
                </a:solidFill>
                <a:effectLst/>
                <a:latin typeface="Agave" panose="020B0509030604020203" pitchFamily="49" charset="0"/>
              </a:rPr>
              <a:t>3</a:t>
            </a:r>
            <a:r>
              <a:rPr lang="en-AU" b="0" dirty="0">
                <a:solidFill>
                  <a:srgbClr val="CCCCCC"/>
                </a:solidFill>
                <a:effectLst/>
                <a:latin typeface="Agave" panose="020B0509030604020203" pitchFamily="49" charset="0"/>
              </a:rPr>
              <a:t>, </a:t>
            </a:r>
            <a:r>
              <a:rPr lang="en-AU" b="0" dirty="0">
                <a:solidFill>
                  <a:srgbClr val="B5CEA8"/>
                </a:solidFill>
                <a:effectLst/>
                <a:latin typeface="Agave" panose="020B0509030604020203" pitchFamily="49" charset="0"/>
              </a:rPr>
              <a:t>3</a:t>
            </a:r>
            <a:endParaRPr lang="en-AU" b="0" dirty="0">
              <a:solidFill>
                <a:srgbClr val="CCCCCC"/>
              </a:solidFill>
              <a:effectLst/>
              <a:latin typeface="Agave" panose="020B0509030604020203" pitchFamily="49" charset="0"/>
            </a:endParaRPr>
          </a:p>
          <a:p>
            <a:br>
              <a:rPr lang="en-AU" b="0" dirty="0">
                <a:solidFill>
                  <a:srgbClr val="CCCCCC"/>
                </a:solidFill>
                <a:effectLst/>
                <a:latin typeface="Agave" panose="020B0509030604020203" pitchFamily="49" charset="0"/>
              </a:rPr>
            </a:br>
            <a:r>
              <a:rPr lang="en-AU" b="0" dirty="0">
                <a:solidFill>
                  <a:srgbClr val="6A9955"/>
                </a:solidFill>
                <a:effectLst/>
                <a:latin typeface="Agave" panose="020B0509030604020203" pitchFamily="49" charset="0"/>
              </a:rPr>
              <a:t># using list comprehension</a:t>
            </a:r>
            <a:endParaRPr lang="en-AU" b="0" dirty="0">
              <a:solidFill>
                <a:srgbClr val="CCCCCC"/>
              </a:solidFill>
              <a:effectLst/>
              <a:latin typeface="Agave" panose="020B0509030604020203" pitchFamily="49" charset="0"/>
            </a:endParaRPr>
          </a:p>
          <a:p>
            <a:r>
              <a:rPr lang="en-AU" b="0" dirty="0" err="1">
                <a:solidFill>
                  <a:srgbClr val="9CDCFE"/>
                </a:solidFill>
                <a:effectLst/>
                <a:latin typeface="Agave" panose="020B0509030604020203" pitchFamily="49" charset="0"/>
              </a:rPr>
              <a:t>two_dim_list</a:t>
            </a:r>
            <a:r>
              <a:rPr lang="en-AU" b="0" dirty="0">
                <a:solidFill>
                  <a:srgbClr val="CCCCCC"/>
                </a:solidFill>
                <a:effectLst/>
                <a:latin typeface="Agave" panose="020B0509030604020203" pitchFamily="49" charset="0"/>
              </a:rPr>
              <a:t> </a:t>
            </a:r>
            <a:r>
              <a:rPr lang="en-AU" b="0" dirty="0">
                <a:solidFill>
                  <a:srgbClr val="D4D4D4"/>
                </a:solidFill>
                <a:effectLst/>
                <a:latin typeface="Agave" panose="020B0509030604020203" pitchFamily="49" charset="0"/>
              </a:rPr>
              <a:t>=</a:t>
            </a:r>
            <a:r>
              <a:rPr lang="en-AU" b="0" dirty="0">
                <a:solidFill>
                  <a:srgbClr val="CCCCCC"/>
                </a:solidFill>
                <a:effectLst/>
                <a:latin typeface="Agave" panose="020B0509030604020203" pitchFamily="49" charset="0"/>
              </a:rPr>
              <a:t> [[</a:t>
            </a:r>
            <a:r>
              <a:rPr lang="en-AU" b="0" dirty="0">
                <a:solidFill>
                  <a:srgbClr val="569CD6"/>
                </a:solidFill>
                <a:effectLst/>
                <a:latin typeface="Agave" panose="020B0509030604020203" pitchFamily="49" charset="0"/>
              </a:rPr>
              <a:t>None</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for</a:t>
            </a:r>
            <a:r>
              <a:rPr lang="en-AU" b="0" dirty="0">
                <a:solidFill>
                  <a:srgbClr val="CCCCCC"/>
                </a:solidFill>
                <a:effectLst/>
                <a:latin typeface="Agave" panose="020B0509030604020203" pitchFamily="49" charset="0"/>
              </a:rPr>
              <a:t> </a:t>
            </a:r>
            <a:r>
              <a:rPr lang="en-AU" b="0" dirty="0">
                <a:solidFill>
                  <a:srgbClr val="9CDCFE"/>
                </a:solidFill>
                <a:effectLst/>
                <a:latin typeface="Agave" panose="020B0509030604020203" pitchFamily="49" charset="0"/>
              </a:rPr>
              <a:t>_</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in</a:t>
            </a:r>
            <a:r>
              <a:rPr lang="en-AU" b="0" dirty="0">
                <a:solidFill>
                  <a:srgbClr val="CCCCCC"/>
                </a:solidFill>
                <a:effectLst/>
                <a:latin typeface="Agave" panose="020B0509030604020203" pitchFamily="49" charset="0"/>
              </a:rPr>
              <a:t> </a:t>
            </a:r>
            <a:r>
              <a:rPr lang="en-AU" b="0" dirty="0">
                <a:solidFill>
                  <a:srgbClr val="4EC9B0"/>
                </a:solidFill>
                <a:effectLst/>
                <a:latin typeface="Agave" panose="020B0509030604020203" pitchFamily="49" charset="0"/>
              </a:rPr>
              <a:t>range</a:t>
            </a:r>
            <a:r>
              <a:rPr lang="en-AU" b="0" dirty="0">
                <a:solidFill>
                  <a:srgbClr val="CCCCCC"/>
                </a:solidFill>
                <a:effectLst/>
                <a:latin typeface="Agave" panose="020B0509030604020203" pitchFamily="49" charset="0"/>
              </a:rPr>
              <a:t>(</a:t>
            </a:r>
            <a:r>
              <a:rPr lang="en-AU" b="0" dirty="0">
                <a:solidFill>
                  <a:srgbClr val="9CDCFE"/>
                </a:solidFill>
                <a:effectLst/>
                <a:latin typeface="Agave" panose="020B0509030604020203" pitchFamily="49" charset="0"/>
              </a:rPr>
              <a:t>w</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for</a:t>
            </a:r>
            <a:r>
              <a:rPr lang="en-AU" b="0" dirty="0">
                <a:solidFill>
                  <a:srgbClr val="CCCCCC"/>
                </a:solidFill>
                <a:effectLst/>
                <a:latin typeface="Agave" panose="020B0509030604020203" pitchFamily="49" charset="0"/>
              </a:rPr>
              <a:t> </a:t>
            </a:r>
            <a:r>
              <a:rPr lang="en-AU" b="0" dirty="0">
                <a:solidFill>
                  <a:srgbClr val="9CDCFE"/>
                </a:solidFill>
                <a:effectLst/>
                <a:latin typeface="Agave" panose="020B0509030604020203" pitchFamily="49" charset="0"/>
              </a:rPr>
              <a:t>_</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in</a:t>
            </a:r>
            <a:r>
              <a:rPr lang="en-AU" b="0" dirty="0">
                <a:solidFill>
                  <a:srgbClr val="CCCCCC"/>
                </a:solidFill>
                <a:effectLst/>
                <a:latin typeface="Agave" panose="020B0509030604020203" pitchFamily="49" charset="0"/>
              </a:rPr>
              <a:t> </a:t>
            </a:r>
            <a:r>
              <a:rPr lang="en-AU" b="0" dirty="0">
                <a:solidFill>
                  <a:srgbClr val="4EC9B0"/>
                </a:solidFill>
                <a:effectLst/>
                <a:latin typeface="Agave" panose="020B0509030604020203" pitchFamily="49" charset="0"/>
              </a:rPr>
              <a:t>range</a:t>
            </a:r>
            <a:r>
              <a:rPr lang="en-AU" b="0" dirty="0">
                <a:solidFill>
                  <a:srgbClr val="CCCCCC"/>
                </a:solidFill>
                <a:effectLst/>
                <a:latin typeface="Agave" panose="020B0509030604020203" pitchFamily="49" charset="0"/>
              </a:rPr>
              <a:t>(</a:t>
            </a:r>
            <a:r>
              <a:rPr lang="en-AU" b="0" dirty="0">
                <a:solidFill>
                  <a:srgbClr val="9CDCFE"/>
                </a:solidFill>
                <a:effectLst/>
                <a:latin typeface="Agave" panose="020B0509030604020203" pitchFamily="49" charset="0"/>
              </a:rPr>
              <a:t>h</a:t>
            </a:r>
            <a:r>
              <a:rPr lang="en-AU" b="0" dirty="0">
                <a:solidFill>
                  <a:srgbClr val="CCCCCC"/>
                </a:solidFill>
                <a:effectLst/>
                <a:latin typeface="Agave" panose="020B0509030604020203" pitchFamily="49" charset="0"/>
              </a:rPr>
              <a:t>)]</a:t>
            </a:r>
          </a:p>
          <a:p>
            <a:br>
              <a:rPr lang="en-AU" b="0" dirty="0">
                <a:solidFill>
                  <a:srgbClr val="CCCCCC"/>
                </a:solidFill>
                <a:effectLst/>
                <a:latin typeface="Agave" panose="020B0509030604020203" pitchFamily="49" charset="0"/>
              </a:rPr>
            </a:br>
            <a:r>
              <a:rPr lang="en-AU" b="0" dirty="0">
                <a:solidFill>
                  <a:srgbClr val="DCDCAA"/>
                </a:solidFill>
                <a:effectLst/>
                <a:latin typeface="Agave" panose="020B0509030604020203" pitchFamily="49" charset="0"/>
              </a:rPr>
              <a:t>print</a:t>
            </a:r>
            <a:r>
              <a:rPr lang="en-AU" b="0" dirty="0">
                <a:solidFill>
                  <a:srgbClr val="CCCCCC"/>
                </a:solidFill>
                <a:effectLst/>
                <a:latin typeface="Agave" panose="020B0509030604020203" pitchFamily="49" charset="0"/>
              </a:rPr>
              <a:t>(</a:t>
            </a:r>
            <a:r>
              <a:rPr lang="en-AU" b="0" dirty="0" err="1">
                <a:solidFill>
                  <a:srgbClr val="9CDCFE"/>
                </a:solidFill>
                <a:effectLst/>
                <a:latin typeface="Agave" panose="020B0509030604020203" pitchFamily="49" charset="0"/>
              </a:rPr>
              <a:t>two_dim_list</a:t>
            </a:r>
            <a:r>
              <a:rPr lang="en-AU" b="0" dirty="0">
                <a:solidFill>
                  <a:srgbClr val="CCCCCC"/>
                </a:solidFill>
                <a:effectLst/>
                <a:latin typeface="Agave" panose="020B0509030604020203" pitchFamily="49" charset="0"/>
              </a:rPr>
              <a:t>)</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912436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by </a:t>
            </a:r>
            <a:r>
              <a:rPr lang="en-US" dirty="0" err="1"/>
              <a:t>ChatGPT</a:t>
            </a:r>
            <a:endParaRPr lang="en-US" dirty="0"/>
          </a:p>
          <a:p>
            <a:endParaRPr lang="en-US" dirty="0"/>
          </a:p>
          <a:p>
            <a:pPr algn="l">
              <a:buFont typeface="Arial" panose="020B0604020202020204" pitchFamily="34" charset="0"/>
              <a:buChar char="•"/>
            </a:pPr>
            <a:r>
              <a:rPr lang="en-AU" b="0" i="0" dirty="0">
                <a:solidFill>
                  <a:srgbClr val="D1D5DB"/>
                </a:solidFill>
                <a:effectLst/>
                <a:latin typeface="Söhne"/>
              </a:rPr>
              <a:t>This slide begins by underscoring an important point: iteration, which is the process of looping over elements one by one, tends to be slow in Python. This is largely due to the fact that Python is an interpreted language. In contrast, compiled languages like C and C++ often perform iterations faster because they execute directly on the machine's hardware. This discrepancy can become particularly noticeable when working with large data structures, complex computations, or both.</a:t>
            </a:r>
          </a:p>
          <a:p>
            <a:pPr algn="l">
              <a:buFont typeface="Arial" panose="020B0604020202020204" pitchFamily="34" charset="0"/>
              <a:buChar char="•"/>
            </a:pPr>
            <a:r>
              <a:rPr lang="en-AU" b="0" i="0" dirty="0">
                <a:solidFill>
                  <a:srgbClr val="D1D5DB"/>
                </a:solidFill>
                <a:effectLst/>
                <a:latin typeface="Söhne"/>
              </a:rPr>
              <a:t>Recall some of the examples we discussed earlier, such as high-resolution images and complex data analysis tasks. These scenarios often involve multi-dimensional arrays and require a high degree of computational performance. When dealing with such data, the slower iteration speed in Python can become a significant bottleneck.</a:t>
            </a:r>
          </a:p>
          <a:p>
            <a:pPr algn="l">
              <a:buFont typeface="Arial" panose="020B0604020202020204" pitchFamily="34" charset="0"/>
              <a:buChar char="•"/>
            </a:pPr>
            <a:r>
              <a:rPr lang="en-AU" b="0" i="0" dirty="0">
                <a:solidFill>
                  <a:srgbClr val="D1D5DB"/>
                </a:solidFill>
                <a:effectLst/>
                <a:latin typeface="Söhne"/>
              </a:rPr>
              <a:t>This brings us to a fundamental characteristic of Python: everything in Python is an object. While this design simplifies many aspects of programming, it also introduces overhead. For example, each object in Python carries metadata, such as type information, that consumes additional memory and processing time. This characteristic of Python can exacerbate the performance issues associated with iteration, especially when dealing with large volumes of data.</a:t>
            </a:r>
          </a:p>
          <a:p>
            <a:pPr algn="l">
              <a:buFont typeface="Arial" panose="020B0604020202020204" pitchFamily="34" charset="0"/>
              <a:buChar char="•"/>
            </a:pPr>
            <a:r>
              <a:rPr lang="en-AU" b="0" i="0" dirty="0">
                <a:solidFill>
                  <a:srgbClr val="D1D5DB"/>
                </a:solidFill>
                <a:effectLst/>
                <a:latin typeface="Söhne"/>
              </a:rPr>
              <a:t>Taken together, these points highlight some of the performance challenges that can arise when using Python for tasks that involve extensive iteration over large data structures. While Python offers numerous advantages in terms of ease of use, readability, and versatility, it's crucial to be aware of these potential limitations when designing and implementing your code. The good news is, however, that with careful programming practices and the use of efficient libraries like NumPy and Pandas, it's possible to mitigate many of these challenges.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2944048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by </a:t>
            </a:r>
            <a:r>
              <a:rPr lang="en-US" dirty="0" err="1"/>
              <a:t>chatGPT</a:t>
            </a:r>
            <a:r>
              <a:rPr lang="en-US" dirty="0"/>
              <a:t>:</a:t>
            </a:r>
            <a:br>
              <a:rPr lang="en-US" dirty="0"/>
            </a:br>
            <a:r>
              <a:rPr lang="en-US" dirty="0"/>
              <a:t>While Python's native lists are great for a variety of tasks, there are some limitations when it comes to numerical computing and handling complex, multi-dimensional data. That's where NumPy and Pandas come in. Both of these libraries are part of Python's scientific computing stack and provide more functionality and performance for working with numerical data.</a:t>
            </a:r>
          </a:p>
          <a:p>
            <a:endParaRPr lang="en-US" dirty="0"/>
          </a:p>
          <a:p>
            <a:r>
              <a:rPr lang="en-US" dirty="0"/>
              <a:t>**NumPy**:</a:t>
            </a:r>
          </a:p>
          <a:p>
            <a:endParaRPr lang="en-US" dirty="0"/>
          </a:p>
          <a:p>
            <a:r>
              <a:rPr lang="en-US" dirty="0"/>
              <a:t>NumPy, which stands for Numerical Python, is a library that provides support for large, multi-dimensional arrays and matrices, along with a collection of mathematical functions to operate on these arrays.</a:t>
            </a:r>
          </a:p>
          <a:p>
            <a:endParaRPr lang="en-US" dirty="0"/>
          </a:p>
          <a:p>
            <a:r>
              <a:rPr lang="en-US" dirty="0"/>
              <a:t>Compared to native Python lists, NumPy arrays are more efficient in terms of memory and performance. They also provide more functionality for numerical operations, like element-wise operations, matrix multiplication, and more.</a:t>
            </a:r>
          </a:p>
          <a:p>
            <a:endParaRPr lang="en-US" dirty="0"/>
          </a:p>
          <a:p>
            <a:r>
              <a:rPr lang="en-US" dirty="0"/>
              <a:t>Here's how you can create a 2D array (which is similar to a list of lists) in NumPy:</a:t>
            </a:r>
          </a:p>
          <a:p>
            <a:endParaRPr lang="en-US" dirty="0"/>
          </a:p>
          <a:p>
            <a:r>
              <a:rPr lang="en-US" dirty="0"/>
              <a:t>```python</a:t>
            </a:r>
          </a:p>
          <a:p>
            <a:r>
              <a:rPr lang="en-US" dirty="0"/>
              <a:t>import </a:t>
            </a:r>
            <a:r>
              <a:rPr lang="en-US" dirty="0" err="1"/>
              <a:t>numpy</a:t>
            </a:r>
            <a:r>
              <a:rPr lang="en-US" dirty="0"/>
              <a:t> as np</a:t>
            </a:r>
          </a:p>
          <a:p>
            <a:endParaRPr lang="en-US" dirty="0"/>
          </a:p>
          <a:p>
            <a:r>
              <a:rPr lang="en-US" dirty="0"/>
              <a:t># Create a 2D array</a:t>
            </a:r>
          </a:p>
          <a:p>
            <a:r>
              <a:rPr lang="en-US" dirty="0" err="1"/>
              <a:t>arr</a:t>
            </a:r>
            <a:r>
              <a:rPr lang="en-US" dirty="0"/>
              <a:t> = </a:t>
            </a:r>
            <a:r>
              <a:rPr lang="en-US" dirty="0" err="1"/>
              <a:t>np.array</a:t>
            </a:r>
            <a:r>
              <a:rPr lang="en-US" dirty="0"/>
              <a:t>([[1, 2, 3], [4, 5, 6], [7, 8, 9]])</a:t>
            </a:r>
          </a:p>
          <a:p>
            <a:r>
              <a:rPr lang="en-US" dirty="0"/>
              <a:t>print(</a:t>
            </a:r>
            <a:r>
              <a:rPr lang="en-US" dirty="0" err="1"/>
              <a:t>arr</a:t>
            </a:r>
            <a:r>
              <a:rPr lang="en-US" dirty="0"/>
              <a:t>)</a:t>
            </a:r>
          </a:p>
          <a:p>
            <a:r>
              <a:rPr lang="en-US" dirty="0"/>
              <a:t>```</a:t>
            </a:r>
          </a:p>
          <a:p>
            <a:endParaRPr lang="en-US" dirty="0"/>
          </a:p>
          <a:p>
            <a:r>
              <a:rPr lang="en-US" dirty="0"/>
              <a:t>You can easily perform operations on NumPy arrays:</a:t>
            </a:r>
          </a:p>
          <a:p>
            <a:endParaRPr lang="en-US" dirty="0"/>
          </a:p>
          <a:p>
            <a:r>
              <a:rPr lang="en-US" dirty="0"/>
              <a:t>```python</a:t>
            </a:r>
          </a:p>
          <a:p>
            <a:r>
              <a:rPr lang="en-US" dirty="0"/>
              <a:t># Multiply all elements by 2</a:t>
            </a:r>
          </a:p>
          <a:p>
            <a:r>
              <a:rPr lang="en-US" dirty="0"/>
              <a:t>arr2 = </a:t>
            </a:r>
            <a:r>
              <a:rPr lang="en-US" dirty="0" err="1"/>
              <a:t>arr</a:t>
            </a:r>
            <a:r>
              <a:rPr lang="en-US" dirty="0"/>
              <a:t> * 2</a:t>
            </a:r>
          </a:p>
          <a:p>
            <a:r>
              <a:rPr lang="en-US" dirty="0"/>
              <a:t>print(arr2)</a:t>
            </a:r>
          </a:p>
          <a:p>
            <a:r>
              <a:rPr lang="en-US" dirty="0"/>
              <a:t>```</a:t>
            </a:r>
          </a:p>
          <a:p>
            <a:endParaRPr lang="en-US" dirty="0"/>
          </a:p>
          <a:p>
            <a:r>
              <a:rPr lang="en-US" dirty="0"/>
              <a:t>**Pandas**:</a:t>
            </a:r>
          </a:p>
          <a:p>
            <a:endParaRPr lang="en-US" dirty="0"/>
          </a:p>
          <a:p>
            <a:r>
              <a:rPr lang="en-US" dirty="0"/>
              <a:t>Pandas builds upon NumPy and provides data structures and functions needed for data manipulation and analysis. The key data structures in Pandas are the `Series` and `</a:t>
            </a:r>
            <a:r>
              <a:rPr lang="en-US" dirty="0" err="1"/>
              <a:t>DataFrame</a:t>
            </a:r>
            <a:r>
              <a:rPr lang="en-US" dirty="0"/>
              <a:t>`.</a:t>
            </a:r>
          </a:p>
          <a:p>
            <a:endParaRPr lang="en-US" dirty="0"/>
          </a:p>
          <a:p>
            <a:r>
              <a:rPr lang="en-US" dirty="0"/>
              <a:t>A `Series` is a one-dimensional labeled array, and a `</a:t>
            </a:r>
            <a:r>
              <a:rPr lang="en-US" dirty="0" err="1"/>
              <a:t>DataFrame</a:t>
            </a:r>
            <a:r>
              <a:rPr lang="en-US" dirty="0"/>
              <a:t>` is a two-dimensional labeled data structure with columns potentially of different types. You can think of it like a spreadsheet or SQL table, or a </a:t>
            </a:r>
            <a:r>
              <a:rPr lang="en-US" dirty="0" err="1"/>
              <a:t>dict</a:t>
            </a:r>
            <a:r>
              <a:rPr lang="en-US" dirty="0"/>
              <a:t> of `Series` objects.</a:t>
            </a:r>
          </a:p>
          <a:p>
            <a:endParaRPr lang="en-US" dirty="0"/>
          </a:p>
          <a:p>
            <a:r>
              <a:rPr lang="en-US" dirty="0"/>
              <a:t>Here's how you can create a `</a:t>
            </a:r>
            <a:r>
              <a:rPr lang="en-US" dirty="0" err="1"/>
              <a:t>DataFrame</a:t>
            </a:r>
            <a:r>
              <a:rPr lang="en-US" dirty="0"/>
              <a:t>` in Pandas:</a:t>
            </a:r>
          </a:p>
          <a:p>
            <a:endParaRPr lang="en-US" dirty="0"/>
          </a:p>
          <a:p>
            <a:r>
              <a:rPr lang="en-US" dirty="0"/>
              <a:t>```python</a:t>
            </a:r>
          </a:p>
          <a:p>
            <a:r>
              <a:rPr lang="en-US" dirty="0"/>
              <a:t>import pandas as pd</a:t>
            </a:r>
          </a:p>
          <a:p>
            <a:endParaRPr lang="en-US" dirty="0"/>
          </a:p>
          <a:p>
            <a:r>
              <a:rPr lang="en-US" dirty="0"/>
              <a:t># Create a simple </a:t>
            </a:r>
            <a:r>
              <a:rPr lang="en-US" dirty="0" err="1"/>
              <a:t>DataFrame</a:t>
            </a:r>
            <a:endParaRPr lang="en-US" dirty="0"/>
          </a:p>
          <a:p>
            <a:r>
              <a:rPr lang="en-US" dirty="0" err="1"/>
              <a:t>df</a:t>
            </a:r>
            <a:r>
              <a:rPr lang="en-US" dirty="0"/>
              <a:t> = </a:t>
            </a:r>
            <a:r>
              <a:rPr lang="en-US" dirty="0" err="1"/>
              <a:t>pd.DataFrame</a:t>
            </a:r>
            <a:r>
              <a:rPr lang="en-US" dirty="0"/>
              <a:t>({</a:t>
            </a:r>
          </a:p>
          <a:p>
            <a:r>
              <a:rPr lang="en-US" dirty="0"/>
              <a:t>    'A': [1, 2, 3],</a:t>
            </a:r>
          </a:p>
          <a:p>
            <a:r>
              <a:rPr lang="en-US" dirty="0"/>
              <a:t>    'B': [4, 5, 6],</a:t>
            </a:r>
          </a:p>
          <a:p>
            <a:r>
              <a:rPr lang="en-US" dirty="0"/>
              <a:t>    'C': [7, 8, 9]</a:t>
            </a:r>
          </a:p>
          <a:p>
            <a:r>
              <a:rPr lang="en-US" dirty="0"/>
              <a:t>})</a:t>
            </a:r>
          </a:p>
          <a:p>
            <a:endParaRPr lang="en-US" dirty="0"/>
          </a:p>
          <a:p>
            <a:r>
              <a:rPr lang="en-US" dirty="0"/>
              <a:t>print(</a:t>
            </a:r>
            <a:r>
              <a:rPr lang="en-US" dirty="0" err="1"/>
              <a:t>df</a:t>
            </a:r>
            <a:r>
              <a:rPr lang="en-US" dirty="0"/>
              <a:t>)</a:t>
            </a:r>
          </a:p>
          <a:p>
            <a:r>
              <a:rPr lang="en-US" dirty="0"/>
              <a:t>```</a:t>
            </a:r>
          </a:p>
          <a:p>
            <a:endParaRPr lang="en-US" dirty="0"/>
          </a:p>
          <a:p>
            <a:r>
              <a:rPr lang="en-US" dirty="0"/>
              <a:t>Pandas is very powerful for handling and analyzing data. For instance, it provides functionality for handling missing data, merging/joining datasets, reshaping data, filtering data, and more. It's also great for reading and writing data in a variety of formats, like CSV, Excel, SQL databases, and more.</a:t>
            </a:r>
          </a:p>
          <a:p>
            <a:endParaRPr lang="en-US" dirty="0"/>
          </a:p>
          <a:p>
            <a:r>
              <a:rPr lang="en-US" dirty="0"/>
              <a:t>In summary, while Python's native lists and data structures are great for general-purpose programming, when it comes to numerical computing and data analysis, NumPy and Pandas are the go-to tools due to their efficiency and additional functionality.</a:t>
            </a:r>
          </a:p>
        </p:txBody>
      </p:sp>
      <p:sp>
        <p:nvSpPr>
          <p:cNvPr id="4" name="Slide Number Placeholder 3"/>
          <p:cNvSpPr>
            <a:spLocks noGrp="1"/>
          </p:cNvSpPr>
          <p:nvPr>
            <p:ph type="sldNum" sz="quarter" idx="5"/>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2869774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Ensure students understand that dimensionality is the properties required to represent a given point, thus since a given point has h, w, (r, g, b) it is 3D (not 2d or 5D)</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2010344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Ensure students understand that dimensionality is the properties required to represent a given point, thus since a given point has h, w, (r, g, b) it is 3D (not 2d or 5D)</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1349354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not 2d – this considers only h &amp; w</a:t>
            </a:r>
          </a:p>
          <a:p>
            <a:r>
              <a:rPr lang="en-AU" b="0" i="0" dirty="0">
                <a:solidFill>
                  <a:srgbClr val="D1D5DB"/>
                </a:solidFill>
                <a:effectLst/>
                <a:latin typeface="Söhne"/>
              </a:rPr>
              <a:t>not 5d – this treats the </a:t>
            </a:r>
            <a:r>
              <a:rPr lang="en-AU" b="0" i="0" dirty="0" err="1">
                <a:solidFill>
                  <a:srgbClr val="D1D5DB"/>
                </a:solidFill>
                <a:effectLst/>
                <a:latin typeface="Söhne"/>
              </a:rPr>
              <a:t>rgb</a:t>
            </a:r>
            <a:r>
              <a:rPr lang="en-AU" b="0" i="0" dirty="0">
                <a:solidFill>
                  <a:srgbClr val="D1D5DB"/>
                </a:solidFill>
                <a:effectLst/>
                <a:latin typeface="Söhne"/>
              </a:rPr>
              <a:t> as being on the same plane as the position, we know the colour properties are separate form the grid properties</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196603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1565103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revise with </a:t>
            </a:r>
            <a:r>
              <a:rPr lang="en-US" dirty="0" err="1"/>
              <a:t>chatGPT</a:t>
            </a:r>
            <a:r>
              <a:rPr lang="en-US" dirty="0"/>
              <a:t>:</a:t>
            </a:r>
            <a:br>
              <a:rPr lang="en-US" dirty="0"/>
            </a:br>
            <a:br>
              <a:rPr lang="en-US" dirty="0"/>
            </a:br>
            <a:r>
              <a:rPr lang="en-US" dirty="0"/>
              <a:t>https://</a:t>
            </a:r>
            <a:r>
              <a:rPr lang="en-US" dirty="0" err="1"/>
              <a:t>chat.openai.com</a:t>
            </a:r>
            <a:r>
              <a:rPr lang="en-US" dirty="0"/>
              <a:t>/share/a755f5ed-f2e5-42e2-89e9-6f0a0e28745e</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3253535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1259717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27/07/2026</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7/27/2026</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832D6C36-AC3E-7459-1287-8BAD55E4ED02}"/>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65" r:id="rId3"/>
    <p:sldLayoutId id="2147483652" r:id="rId4"/>
    <p:sldLayoutId id="2147483653" r:id="rId5"/>
    <p:sldLayoutId id="2147483661" r:id="rId6"/>
    <p:sldLayoutId id="2147483662" r:id="rId7"/>
    <p:sldLayoutId id="2147483654" r:id="rId8"/>
    <p:sldLayoutId id="2147483663" r:id="rId9"/>
    <p:sldLayoutId id="2147483664" r:id="rId10"/>
    <p:sldLayoutId id="2147483660" r:id="rId11"/>
    <p:sldLayoutId id="2147483668" r:id="rId12"/>
    <p:sldLayoutId id="2147483655" r:id="rId13"/>
    <p:sldLayoutId id="2147483656" r:id="rId14"/>
    <p:sldLayoutId id="2147483657" r:id="rId15"/>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8913-DE1D-8542-9FB8-28ADA73D154C}"/>
              </a:ext>
            </a:extLst>
          </p:cNvPr>
          <p:cNvSpPr>
            <a:spLocks noGrp="1"/>
          </p:cNvSpPr>
          <p:nvPr>
            <p:ph type="title"/>
          </p:nvPr>
        </p:nvSpPr>
        <p:spPr/>
        <p:txBody>
          <a:bodyPr/>
          <a:lstStyle/>
          <a:p>
            <a:r>
              <a:rPr lang="en-US" dirty="0"/>
              <a:t>2D Data Structures – </a:t>
            </a:r>
            <a:br>
              <a:rPr lang="en-US" dirty="0"/>
            </a:br>
            <a:r>
              <a:rPr lang="en-US" dirty="0"/>
              <a:t>how, why, when?</a:t>
            </a:r>
          </a:p>
        </p:txBody>
      </p:sp>
      <p:sp>
        <p:nvSpPr>
          <p:cNvPr id="4" name="Text Placeholder 3">
            <a:extLst>
              <a:ext uri="{FF2B5EF4-FFF2-40B4-BE49-F238E27FC236}">
                <a16:creationId xmlns:a16="http://schemas.microsoft.com/office/drawing/2014/main" id="{172DBA6D-8A01-D52B-2D73-F92728654709}"/>
              </a:ext>
            </a:extLst>
          </p:cNvPr>
          <p:cNvSpPr>
            <a:spLocks noGrp="1"/>
          </p:cNvSpPr>
          <p:nvPr>
            <p:ph type="body" idx="1"/>
          </p:nvPr>
        </p:nvSpPr>
        <p:spPr/>
        <p:txBody>
          <a:bodyPr/>
          <a:lstStyle/>
          <a:p>
            <a:r>
              <a:rPr lang="en-US" dirty="0"/>
              <a:t>Part 1</a:t>
            </a:r>
          </a:p>
        </p:txBody>
      </p:sp>
    </p:spTree>
    <p:extLst>
      <p:ext uri="{BB962C8B-B14F-4D97-AF65-F5344CB8AC3E}">
        <p14:creationId xmlns:p14="http://schemas.microsoft.com/office/powerpoint/2010/main" val="288607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5 Reasons a database is better than a spreadsheet for business">
            <a:extLst>
              <a:ext uri="{FF2B5EF4-FFF2-40B4-BE49-F238E27FC236}">
                <a16:creationId xmlns:a16="http://schemas.microsoft.com/office/drawing/2014/main" id="{8EEE3307-0AE4-76E5-4FBD-2096075DEE07}"/>
              </a:ext>
            </a:extLst>
          </p:cNvPr>
          <p:cNvPicPr>
            <a:picLocks noChangeAspect="1" noChangeArrowheads="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2649888" y="485775"/>
            <a:ext cx="9542112" cy="63722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11AFC62-FB17-B354-3144-8D15599F0D60}"/>
              </a:ext>
            </a:extLst>
          </p:cNvPr>
          <p:cNvSpPr/>
          <p:nvPr/>
        </p:nvSpPr>
        <p:spPr>
          <a:xfrm>
            <a:off x="266700" y="1921690"/>
            <a:ext cx="11315700" cy="4450535"/>
          </a:xfrm>
          <a:prstGeom prst="rect">
            <a:avLst/>
          </a:prstGeom>
          <a:solidFill>
            <a:srgbClr val="26262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438150" y="2295960"/>
            <a:ext cx="10972800" cy="4563491"/>
          </a:xfrm>
        </p:spPr>
        <p:txBody>
          <a:bodyPr/>
          <a:lstStyle/>
          <a:p>
            <a:r>
              <a:rPr lang="en-US" dirty="0"/>
              <a:t>Discuss how can you make a Python list 2-dimensional? (or 3 for that matter?)</a:t>
            </a:r>
          </a:p>
          <a:p>
            <a:r>
              <a:rPr lang="en-US" dirty="0"/>
              <a:t>What are some possible applications?</a:t>
            </a:r>
          </a:p>
          <a:p>
            <a:r>
              <a:rPr lang="en-US" dirty="0"/>
              <a:t>How would you code and parse a 2D data structure?</a:t>
            </a:r>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266700" y="917034"/>
            <a:ext cx="10972800" cy="1003205"/>
          </a:xfrm>
        </p:spPr>
        <p:txBody>
          <a:bodyPr/>
          <a:lstStyle/>
          <a:p>
            <a:r>
              <a:rPr lang="en-US" dirty="0"/>
              <a:t>Consider</a:t>
            </a:r>
          </a:p>
        </p:txBody>
      </p:sp>
    </p:spTree>
    <p:extLst>
      <p:ext uri="{BB962C8B-B14F-4D97-AF65-F5344CB8AC3E}">
        <p14:creationId xmlns:p14="http://schemas.microsoft.com/office/powerpoint/2010/main" val="2526083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821C0C-FE1C-93C4-D371-E62B5E333794}"/>
              </a:ext>
            </a:extLst>
          </p:cNvPr>
          <p:cNvSpPr>
            <a:spLocks noGrp="1"/>
          </p:cNvSpPr>
          <p:nvPr>
            <p:ph type="title"/>
          </p:nvPr>
        </p:nvSpPr>
        <p:spPr/>
        <p:txBody>
          <a:bodyPr/>
          <a:lstStyle/>
          <a:p>
            <a:r>
              <a:rPr lang="en-AU" b="1" i="0" dirty="0">
                <a:effectLst/>
                <a:latin typeface="Söhne"/>
              </a:rPr>
              <a:t>Accessing a 2D list (List of Lists)</a:t>
            </a:r>
            <a:endParaRPr lang="en-US" dirty="0"/>
          </a:p>
        </p:txBody>
      </p:sp>
      <p:sp>
        <p:nvSpPr>
          <p:cNvPr id="9" name="TextBox 8">
            <a:extLst>
              <a:ext uri="{FF2B5EF4-FFF2-40B4-BE49-F238E27FC236}">
                <a16:creationId xmlns:a16="http://schemas.microsoft.com/office/drawing/2014/main" id="{A6A951B2-B75E-730D-FB6C-0D664CBF3C0B}"/>
              </a:ext>
            </a:extLst>
          </p:cNvPr>
          <p:cNvSpPr txBox="1"/>
          <p:nvPr/>
        </p:nvSpPr>
        <p:spPr>
          <a:xfrm>
            <a:off x="1571625" y="2644170"/>
            <a:ext cx="13208795" cy="2062103"/>
          </a:xfrm>
          <a:prstGeom prst="rect">
            <a:avLst/>
          </a:prstGeom>
          <a:noFill/>
        </p:spPr>
        <p:txBody>
          <a:bodyPr wrap="square">
            <a:spAutoFit/>
          </a:bodyPr>
          <a:lstStyle/>
          <a:p>
            <a:br>
              <a:rPr lang="en-AU" sz="3200" b="0" dirty="0">
                <a:solidFill>
                  <a:srgbClr val="CCCCCC"/>
                </a:solidFill>
                <a:effectLst/>
                <a:latin typeface="Agave" panose="020B0509030604020203" pitchFamily="49" charset="0"/>
              </a:rPr>
            </a:b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 </a:t>
            </a:r>
            <a:r>
              <a:rPr lang="en-AU" sz="3200" b="0" dirty="0">
                <a:solidFill>
                  <a:srgbClr val="D4D4D4"/>
                </a:solidFill>
                <a:effectLst/>
                <a:latin typeface="Agave" panose="020B0509030604020203" pitchFamily="49" charset="0"/>
              </a:rPr>
              <a:t>=</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3</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4</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5</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6</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7</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8</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9</a:t>
            </a:r>
            <a:r>
              <a:rPr lang="en-AU" sz="3200" b="0" dirty="0">
                <a:solidFill>
                  <a:srgbClr val="CCCCCC"/>
                </a:solidFill>
                <a:effectLst/>
                <a:latin typeface="Agave" panose="020B0509030604020203" pitchFamily="49" charset="0"/>
              </a:rPr>
              <a:t>]]</a:t>
            </a:r>
          </a:p>
          <a:p>
            <a:br>
              <a:rPr lang="en-AU" sz="3200" b="0" dirty="0">
                <a:solidFill>
                  <a:srgbClr val="CCCCCC"/>
                </a:solidFill>
                <a:effectLst/>
                <a:latin typeface="Agave" panose="020B0509030604020203" pitchFamily="49" charset="0"/>
              </a:rPr>
            </a:br>
            <a:endParaRPr lang="en-AU" sz="3200" b="0" dirty="0">
              <a:solidFill>
                <a:srgbClr val="CCCCCC"/>
              </a:solidFill>
              <a:effectLst/>
              <a:latin typeface="Agave" panose="020B0509030604020203" pitchFamily="49" charset="0"/>
            </a:endParaRPr>
          </a:p>
        </p:txBody>
      </p:sp>
      <p:sp>
        <p:nvSpPr>
          <p:cNvPr id="15" name="TextBox 14">
            <a:extLst>
              <a:ext uri="{FF2B5EF4-FFF2-40B4-BE49-F238E27FC236}">
                <a16:creationId xmlns:a16="http://schemas.microsoft.com/office/drawing/2014/main" id="{E8AA61F1-FF10-8C8E-9201-4E9F60275718}"/>
              </a:ext>
            </a:extLst>
          </p:cNvPr>
          <p:cNvSpPr txBox="1"/>
          <p:nvPr/>
        </p:nvSpPr>
        <p:spPr>
          <a:xfrm>
            <a:off x="1571625" y="3921442"/>
            <a:ext cx="7400924" cy="584775"/>
          </a:xfrm>
          <a:prstGeom prst="rect">
            <a:avLst/>
          </a:prstGeom>
          <a:noFill/>
        </p:spPr>
        <p:txBody>
          <a:bodyPr wrap="square">
            <a:spAutoFit/>
          </a:bodyPr>
          <a:lstStyle/>
          <a:p>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a:t>
            </a:r>
          </a:p>
        </p:txBody>
      </p:sp>
      <p:sp>
        <p:nvSpPr>
          <p:cNvPr id="16" name="TextBox 15">
            <a:extLst>
              <a:ext uri="{FF2B5EF4-FFF2-40B4-BE49-F238E27FC236}">
                <a16:creationId xmlns:a16="http://schemas.microsoft.com/office/drawing/2014/main" id="{39C65A48-EB90-9447-B2FE-8BB2B2B62C6C}"/>
              </a:ext>
            </a:extLst>
          </p:cNvPr>
          <p:cNvSpPr txBox="1"/>
          <p:nvPr/>
        </p:nvSpPr>
        <p:spPr>
          <a:xfrm>
            <a:off x="6297557" y="5773333"/>
            <a:ext cx="4587281" cy="584775"/>
          </a:xfrm>
          <a:prstGeom prst="rect">
            <a:avLst/>
          </a:prstGeom>
          <a:noFill/>
        </p:spPr>
        <p:txBody>
          <a:bodyPr wrap="none" rtlCol="0">
            <a:spAutoFit/>
          </a:bodyPr>
          <a:lstStyle/>
          <a:p>
            <a:r>
              <a:rPr lang="en-US" sz="3200" dirty="0">
                <a:solidFill>
                  <a:schemeClr val="bg1">
                    <a:lumMod val="85000"/>
                  </a:schemeClr>
                </a:solidFill>
              </a:rPr>
              <a:t>Warm-ups were worth it!</a:t>
            </a:r>
          </a:p>
        </p:txBody>
      </p:sp>
    </p:spTree>
    <p:extLst>
      <p:ext uri="{BB962C8B-B14F-4D97-AF65-F5344CB8AC3E}">
        <p14:creationId xmlns:p14="http://schemas.microsoft.com/office/powerpoint/2010/main" val="173114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821C0C-FE1C-93C4-D371-E62B5E333794}"/>
              </a:ext>
            </a:extLst>
          </p:cNvPr>
          <p:cNvSpPr>
            <a:spLocks noGrp="1"/>
          </p:cNvSpPr>
          <p:nvPr>
            <p:ph type="title"/>
          </p:nvPr>
        </p:nvSpPr>
        <p:spPr/>
        <p:txBody>
          <a:bodyPr/>
          <a:lstStyle/>
          <a:p>
            <a:r>
              <a:rPr lang="en-AU" b="1" i="0" dirty="0">
                <a:effectLst/>
                <a:latin typeface="Söhne"/>
              </a:rPr>
              <a:t>More readable presentation</a:t>
            </a:r>
            <a:endParaRPr lang="en-US" dirty="0"/>
          </a:p>
        </p:txBody>
      </p:sp>
      <p:sp>
        <p:nvSpPr>
          <p:cNvPr id="16" name="TextBox 15">
            <a:extLst>
              <a:ext uri="{FF2B5EF4-FFF2-40B4-BE49-F238E27FC236}">
                <a16:creationId xmlns:a16="http://schemas.microsoft.com/office/drawing/2014/main" id="{39C65A48-EB90-9447-B2FE-8BB2B2B62C6C}"/>
              </a:ext>
            </a:extLst>
          </p:cNvPr>
          <p:cNvSpPr txBox="1"/>
          <p:nvPr/>
        </p:nvSpPr>
        <p:spPr>
          <a:xfrm>
            <a:off x="9151143" y="5918040"/>
            <a:ext cx="2681119" cy="584775"/>
          </a:xfrm>
          <a:prstGeom prst="rect">
            <a:avLst/>
          </a:prstGeom>
          <a:noFill/>
        </p:spPr>
        <p:txBody>
          <a:bodyPr wrap="none" rtlCol="0">
            <a:spAutoFit/>
          </a:bodyPr>
          <a:lstStyle/>
          <a:p>
            <a:r>
              <a:rPr lang="en-US" sz="3200" dirty="0">
                <a:solidFill>
                  <a:schemeClr val="bg1">
                    <a:lumMod val="85000"/>
                  </a:schemeClr>
                </a:solidFill>
              </a:rPr>
              <a:t>That’s better! </a:t>
            </a:r>
          </a:p>
        </p:txBody>
      </p:sp>
      <p:sp>
        <p:nvSpPr>
          <p:cNvPr id="3" name="TextBox 2">
            <a:extLst>
              <a:ext uri="{FF2B5EF4-FFF2-40B4-BE49-F238E27FC236}">
                <a16:creationId xmlns:a16="http://schemas.microsoft.com/office/drawing/2014/main" id="{98356589-1291-7104-047E-A632CC73097A}"/>
              </a:ext>
            </a:extLst>
          </p:cNvPr>
          <p:cNvSpPr txBox="1"/>
          <p:nvPr/>
        </p:nvSpPr>
        <p:spPr>
          <a:xfrm>
            <a:off x="3050381" y="2551837"/>
            <a:ext cx="6100762" cy="3046988"/>
          </a:xfrm>
          <a:prstGeom prst="rect">
            <a:avLst/>
          </a:prstGeom>
          <a:noFill/>
        </p:spPr>
        <p:txBody>
          <a:bodyPr wrap="square">
            <a:spAutoFit/>
          </a:bodyPr>
          <a:lstStyle/>
          <a:p>
            <a:br>
              <a:rPr lang="en-AU" sz="3200" b="0" dirty="0">
                <a:solidFill>
                  <a:srgbClr val="CCCCCC"/>
                </a:solidFill>
                <a:effectLst/>
                <a:latin typeface="Agave" panose="020B0509030604020203" pitchFamily="49" charset="0"/>
              </a:rPr>
            </a:b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 </a:t>
            </a:r>
            <a:r>
              <a:rPr lang="en-AU" sz="3200" b="0" dirty="0">
                <a:solidFill>
                  <a:srgbClr val="D4D4D4"/>
                </a:solidFill>
                <a:effectLst/>
                <a:latin typeface="Agave" panose="020B0509030604020203" pitchFamily="49" charset="0"/>
              </a:rPr>
              <a:t>=</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3</a:t>
            </a:r>
            <a:r>
              <a:rPr lang="en-AU" sz="3200" b="0" dirty="0">
                <a:solidFill>
                  <a:srgbClr val="CCCCCC"/>
                </a:solidFill>
                <a:effectLst/>
                <a:latin typeface="Agave" panose="020B0509030604020203" pitchFamily="49" charset="0"/>
              </a:rPr>
              <a:t>], </a:t>
            </a:r>
          </a:p>
          <a:p>
            <a:r>
              <a:rPr lang="en-AU" sz="3200" dirty="0">
                <a:solidFill>
                  <a:srgbClr val="CCCCCC"/>
                </a:solidFill>
                <a:latin typeface="Agave" panose="020B0509030604020203" pitchFamily="49" charset="0"/>
              </a:rPr>
              <a:t>                </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4</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5</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6</a:t>
            </a:r>
            <a:r>
              <a:rPr lang="en-AU" sz="3200" b="0" dirty="0">
                <a:solidFill>
                  <a:srgbClr val="CCCCCC"/>
                </a:solidFill>
                <a:effectLst/>
                <a:latin typeface="Agave" panose="020B0509030604020203" pitchFamily="49" charset="0"/>
              </a:rPr>
              <a:t>], </a:t>
            </a:r>
          </a:p>
          <a:p>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7</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8</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9</a:t>
            </a:r>
            <a:r>
              <a:rPr lang="en-AU" sz="3200" b="0" dirty="0">
                <a:solidFill>
                  <a:srgbClr val="CCCCCC"/>
                </a:solidFill>
                <a:effectLst/>
                <a:latin typeface="Agave" panose="020B0509030604020203" pitchFamily="49" charset="0"/>
              </a:rPr>
              <a:t>]]</a:t>
            </a:r>
          </a:p>
          <a:p>
            <a:br>
              <a:rPr lang="en-AU" sz="3200" b="0" dirty="0">
                <a:solidFill>
                  <a:srgbClr val="CCCCCC"/>
                </a:solidFill>
                <a:effectLst/>
                <a:latin typeface="Agave" panose="020B0509030604020203" pitchFamily="49" charset="0"/>
              </a:rPr>
            </a:b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a:t>
            </a:r>
          </a:p>
        </p:txBody>
      </p:sp>
    </p:spTree>
    <p:extLst>
      <p:ext uri="{BB962C8B-B14F-4D97-AF65-F5344CB8AC3E}">
        <p14:creationId xmlns:p14="http://schemas.microsoft.com/office/powerpoint/2010/main" val="139535524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BCA17-78CC-2A82-14C6-7461005EE82B}"/>
              </a:ext>
            </a:extLst>
          </p:cNvPr>
          <p:cNvSpPr>
            <a:spLocks noGrp="1"/>
          </p:cNvSpPr>
          <p:nvPr>
            <p:ph type="title"/>
          </p:nvPr>
        </p:nvSpPr>
        <p:spPr/>
        <p:txBody>
          <a:bodyPr>
            <a:normAutofit fontScale="90000"/>
          </a:bodyPr>
          <a:lstStyle/>
          <a:p>
            <a:r>
              <a:rPr lang="en-US" dirty="0"/>
              <a:t>Sequential iteration (nested loop pattern)</a:t>
            </a:r>
          </a:p>
        </p:txBody>
      </p:sp>
      <p:sp>
        <p:nvSpPr>
          <p:cNvPr id="6" name="TextBox 5">
            <a:extLst>
              <a:ext uri="{FF2B5EF4-FFF2-40B4-BE49-F238E27FC236}">
                <a16:creationId xmlns:a16="http://schemas.microsoft.com/office/drawing/2014/main" id="{1D84CBA9-D91E-3412-1E41-9E17A9CDBEFE}"/>
              </a:ext>
            </a:extLst>
          </p:cNvPr>
          <p:cNvSpPr txBox="1"/>
          <p:nvPr/>
        </p:nvSpPr>
        <p:spPr>
          <a:xfrm>
            <a:off x="942975" y="2690336"/>
            <a:ext cx="10229850" cy="2554545"/>
          </a:xfrm>
          <a:prstGeom prst="rect">
            <a:avLst/>
          </a:prstGeom>
          <a:noFill/>
        </p:spPr>
        <p:txBody>
          <a:bodyPr wrap="square">
            <a:spAutoFit/>
          </a:bodyPr>
          <a:lstStyle/>
          <a:p>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 </a:t>
            </a:r>
            <a:r>
              <a:rPr lang="en-AU" sz="3200" b="0" dirty="0">
                <a:solidFill>
                  <a:srgbClr val="D4D4D4"/>
                </a:solidFill>
                <a:effectLst/>
                <a:latin typeface="Agave" panose="020B0509030604020203" pitchFamily="49" charset="0"/>
              </a:rPr>
              <a:t>=</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3</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4</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5</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6</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7</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8</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9</a:t>
            </a:r>
            <a:r>
              <a:rPr lang="en-AU" sz="3200" b="0" dirty="0">
                <a:solidFill>
                  <a:srgbClr val="CCCCCC"/>
                </a:solidFill>
                <a:effectLst/>
                <a:latin typeface="Agave" panose="020B0509030604020203" pitchFamily="49" charset="0"/>
              </a:rPr>
              <a:t>]]</a:t>
            </a:r>
          </a:p>
          <a:p>
            <a:r>
              <a:rPr lang="en-AU" sz="3200" b="0" dirty="0">
                <a:solidFill>
                  <a:srgbClr val="C586C0"/>
                </a:solidFill>
                <a:effectLst/>
                <a:latin typeface="Agave" panose="020B0509030604020203" pitchFamily="49" charset="0"/>
              </a:rPr>
              <a:t>for</a:t>
            </a:r>
            <a:r>
              <a:rPr lang="en-AU" sz="3200" b="0" dirty="0">
                <a:solidFill>
                  <a:srgbClr val="CCCCCC"/>
                </a:solidFill>
                <a:effectLst/>
                <a:latin typeface="Agave" panose="020B0509030604020203" pitchFamily="49" charset="0"/>
              </a:rPr>
              <a:t> </a:t>
            </a:r>
            <a:r>
              <a:rPr lang="en-AU" sz="3200" b="0" dirty="0">
                <a:solidFill>
                  <a:srgbClr val="9CDCFE"/>
                </a:solidFill>
                <a:effectLst/>
                <a:latin typeface="Agave" panose="020B0509030604020203" pitchFamily="49" charset="0"/>
              </a:rPr>
              <a:t>row</a:t>
            </a:r>
            <a:r>
              <a:rPr lang="en-AU" sz="3200" b="0" dirty="0">
                <a:solidFill>
                  <a:srgbClr val="CCCCCC"/>
                </a:solidFill>
                <a:effectLst/>
                <a:latin typeface="Agave" panose="020B0509030604020203" pitchFamily="49" charset="0"/>
              </a:rPr>
              <a:t> </a:t>
            </a:r>
            <a:r>
              <a:rPr lang="en-AU" sz="3200" b="0" dirty="0">
                <a:solidFill>
                  <a:srgbClr val="C586C0"/>
                </a:solidFill>
                <a:effectLst/>
                <a:latin typeface="Agave" panose="020B0509030604020203" pitchFamily="49" charset="0"/>
              </a:rPr>
              <a:t>in</a:t>
            </a:r>
            <a:r>
              <a:rPr lang="en-AU" sz="3200" b="0" dirty="0">
                <a:solidFill>
                  <a:srgbClr val="CCCCCC"/>
                </a:solidFill>
                <a:effectLst/>
                <a:latin typeface="Agave" panose="020B0509030604020203" pitchFamily="49" charset="0"/>
              </a:rPr>
              <a:t> </a:t>
            </a: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a:t>
            </a:r>
          </a:p>
          <a:p>
            <a:r>
              <a:rPr lang="en-AU" sz="3200" b="0" dirty="0">
                <a:solidFill>
                  <a:srgbClr val="C586C0"/>
                </a:solidFill>
                <a:effectLst/>
                <a:latin typeface="Agave" panose="020B0509030604020203" pitchFamily="49" charset="0"/>
              </a:rPr>
              <a:t>	for</a:t>
            </a:r>
            <a:r>
              <a:rPr lang="en-AU" sz="3200" b="0" dirty="0">
                <a:solidFill>
                  <a:srgbClr val="CCCCCC"/>
                </a:solidFill>
                <a:effectLst/>
                <a:latin typeface="Agave" panose="020B0509030604020203" pitchFamily="49" charset="0"/>
              </a:rPr>
              <a:t> </a:t>
            </a:r>
            <a:r>
              <a:rPr lang="en-AU" sz="3200" b="0" dirty="0" err="1">
                <a:solidFill>
                  <a:srgbClr val="9CDCFE"/>
                </a:solidFill>
                <a:effectLst/>
                <a:latin typeface="Agave" panose="020B0509030604020203" pitchFamily="49" charset="0"/>
              </a:rPr>
              <a:t>elem</a:t>
            </a:r>
            <a:r>
              <a:rPr lang="en-AU" sz="3200" b="0" dirty="0">
                <a:solidFill>
                  <a:srgbClr val="CCCCCC"/>
                </a:solidFill>
                <a:effectLst/>
                <a:latin typeface="Agave" panose="020B0509030604020203" pitchFamily="49" charset="0"/>
              </a:rPr>
              <a:t> </a:t>
            </a:r>
            <a:r>
              <a:rPr lang="en-AU" sz="3200" b="0" dirty="0">
                <a:solidFill>
                  <a:srgbClr val="C586C0"/>
                </a:solidFill>
                <a:effectLst/>
                <a:latin typeface="Agave" panose="020B0509030604020203" pitchFamily="49" charset="0"/>
              </a:rPr>
              <a:t>in</a:t>
            </a:r>
            <a:r>
              <a:rPr lang="en-AU" sz="3200" b="0" dirty="0">
                <a:solidFill>
                  <a:srgbClr val="CCCCCC"/>
                </a:solidFill>
                <a:effectLst/>
                <a:latin typeface="Agave" panose="020B0509030604020203" pitchFamily="49" charset="0"/>
              </a:rPr>
              <a:t> </a:t>
            </a:r>
            <a:r>
              <a:rPr lang="en-AU" sz="3200" b="0" dirty="0">
                <a:solidFill>
                  <a:srgbClr val="9CDCFE"/>
                </a:solidFill>
                <a:effectLst/>
                <a:latin typeface="Agave" panose="020B0509030604020203" pitchFamily="49" charset="0"/>
              </a:rPr>
              <a:t>row</a:t>
            </a:r>
            <a:r>
              <a:rPr lang="en-AU" sz="3200" b="0" dirty="0">
                <a:solidFill>
                  <a:srgbClr val="CCCCCC"/>
                </a:solidFill>
                <a:effectLst/>
                <a:latin typeface="Agave" panose="020B0509030604020203" pitchFamily="49" charset="0"/>
              </a:rPr>
              <a:t>:</a:t>
            </a:r>
          </a:p>
          <a:p>
            <a:r>
              <a:rPr lang="en-AU" sz="3200" b="0" dirty="0">
                <a:solidFill>
                  <a:srgbClr val="DCDCAA"/>
                </a:solidFill>
                <a:effectLst/>
                <a:latin typeface="Agave" panose="020B0509030604020203" pitchFamily="49" charset="0"/>
              </a:rPr>
              <a:t>		print</a:t>
            </a:r>
            <a:r>
              <a:rPr lang="en-AU" sz="3200" b="0" dirty="0">
                <a:solidFill>
                  <a:srgbClr val="CCCCCC"/>
                </a:solidFill>
                <a:effectLst/>
                <a:latin typeface="Agave" panose="020B0509030604020203" pitchFamily="49" charset="0"/>
              </a:rPr>
              <a:t>(</a:t>
            </a:r>
            <a:r>
              <a:rPr lang="en-AU" sz="3200" b="0" dirty="0" err="1">
                <a:solidFill>
                  <a:srgbClr val="9CDCFE"/>
                </a:solidFill>
                <a:effectLst/>
                <a:latin typeface="Agave" panose="020B0509030604020203" pitchFamily="49" charset="0"/>
              </a:rPr>
              <a:t>elem</a:t>
            </a:r>
            <a:r>
              <a:rPr lang="en-AU" sz="3200" b="0" dirty="0">
                <a:solidFill>
                  <a:srgbClr val="CCCCCC"/>
                </a:solidFill>
                <a:effectLst/>
                <a:latin typeface="Agave" panose="020B0509030604020203" pitchFamily="49" charset="0"/>
              </a:rPr>
              <a:t>, </a:t>
            </a:r>
            <a:r>
              <a:rPr lang="en-AU" sz="3200" b="0" dirty="0">
                <a:solidFill>
                  <a:srgbClr val="9CDCFE"/>
                </a:solidFill>
                <a:effectLst/>
                <a:latin typeface="Agave" panose="020B0509030604020203" pitchFamily="49" charset="0"/>
              </a:rPr>
              <a:t>end</a:t>
            </a:r>
            <a:r>
              <a:rPr lang="en-AU" sz="3200" b="0" dirty="0">
                <a:solidFill>
                  <a:srgbClr val="D4D4D4"/>
                </a:solidFill>
                <a:effectLst/>
                <a:latin typeface="Agave" panose="020B0509030604020203" pitchFamily="49" charset="0"/>
              </a:rPr>
              <a:t>=</a:t>
            </a:r>
            <a:r>
              <a:rPr lang="en-AU" sz="3200" b="0" dirty="0">
                <a:solidFill>
                  <a:srgbClr val="CE9178"/>
                </a:solidFill>
                <a:effectLst/>
                <a:latin typeface="Agave" panose="020B0509030604020203" pitchFamily="49" charset="0"/>
              </a:rPr>
              <a:t>' ‘</a:t>
            </a:r>
            <a:r>
              <a:rPr lang="en-AU" sz="3200" b="0" dirty="0">
                <a:solidFill>
                  <a:srgbClr val="CCCCCC"/>
                </a:solidFill>
                <a:effectLst/>
                <a:latin typeface="Agave" panose="020B0509030604020203" pitchFamily="49" charset="0"/>
              </a:rPr>
              <a:t>)</a:t>
            </a:r>
          </a:p>
          <a:p>
            <a:r>
              <a:rPr lang="en-AU" sz="3200" b="0" dirty="0">
                <a:solidFill>
                  <a:srgbClr val="DCDCAA"/>
                </a:solidFill>
                <a:effectLst/>
                <a:latin typeface="Agave" panose="020B0509030604020203" pitchFamily="49" charset="0"/>
              </a:rPr>
              <a:t>	print</a:t>
            </a:r>
            <a:r>
              <a:rPr lang="en-AU" sz="3200" b="0" dirty="0">
                <a:solidFill>
                  <a:srgbClr val="CCCCCC"/>
                </a:solidFill>
                <a:effectLst/>
                <a:latin typeface="Agave" panose="020B0509030604020203" pitchFamily="49" charset="0"/>
              </a:rPr>
              <a:t>() </a:t>
            </a:r>
            <a:r>
              <a:rPr lang="en-AU" sz="3200" b="0" dirty="0">
                <a:solidFill>
                  <a:srgbClr val="6A9955"/>
                </a:solidFill>
                <a:effectLst/>
                <a:latin typeface="Agave" panose="020B0509030604020203" pitchFamily="49" charset="0"/>
              </a:rPr>
              <a:t># Delete me to see what I do! </a:t>
            </a:r>
            <a:endParaRPr lang="en-AU" sz="3200" b="0" dirty="0">
              <a:solidFill>
                <a:srgbClr val="CCCCCC"/>
              </a:solidFill>
              <a:effectLst/>
              <a:latin typeface="Agave" panose="020B0509030604020203" pitchFamily="49" charset="0"/>
            </a:endParaRPr>
          </a:p>
        </p:txBody>
      </p:sp>
    </p:spTree>
    <p:extLst>
      <p:ext uri="{BB962C8B-B14F-4D97-AF65-F5344CB8AC3E}">
        <p14:creationId xmlns:p14="http://schemas.microsoft.com/office/powerpoint/2010/main" val="1952122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E9E09-0C3C-6181-4A30-B8EA90C97261}"/>
              </a:ext>
            </a:extLst>
          </p:cNvPr>
          <p:cNvSpPr>
            <a:spLocks noGrp="1"/>
          </p:cNvSpPr>
          <p:nvPr>
            <p:ph type="title"/>
          </p:nvPr>
        </p:nvSpPr>
        <p:spPr/>
        <p:txBody>
          <a:bodyPr/>
          <a:lstStyle/>
          <a:p>
            <a:r>
              <a:rPr lang="en-US" dirty="0"/>
              <a:t>Iteratively created a rows x cols list</a:t>
            </a:r>
          </a:p>
        </p:txBody>
      </p:sp>
      <p:sp>
        <p:nvSpPr>
          <p:cNvPr id="6" name="TextBox 5">
            <a:extLst>
              <a:ext uri="{FF2B5EF4-FFF2-40B4-BE49-F238E27FC236}">
                <a16:creationId xmlns:a16="http://schemas.microsoft.com/office/drawing/2014/main" id="{035F6DAE-DD0D-05CB-A157-A98A04BE4897}"/>
              </a:ext>
            </a:extLst>
          </p:cNvPr>
          <p:cNvSpPr txBox="1"/>
          <p:nvPr/>
        </p:nvSpPr>
        <p:spPr>
          <a:xfrm>
            <a:off x="609600" y="1907739"/>
            <a:ext cx="13773150" cy="3539430"/>
          </a:xfrm>
          <a:prstGeom prst="rect">
            <a:avLst/>
          </a:prstGeom>
          <a:noFill/>
        </p:spPr>
        <p:txBody>
          <a:bodyPr wrap="square">
            <a:spAutoFit/>
          </a:bodyPr>
          <a:lstStyle/>
          <a:p>
            <a:r>
              <a:rPr lang="en-AU" sz="2800" b="0" dirty="0">
                <a:solidFill>
                  <a:srgbClr val="9CDCFE"/>
                </a:solidFill>
                <a:effectLst/>
                <a:latin typeface="Agave" panose="020B0509030604020203" pitchFamily="49" charset="0"/>
              </a:rPr>
              <a:t>rows</a:t>
            </a:r>
            <a:r>
              <a:rPr lang="en-AU" sz="2800" b="0" dirty="0">
                <a:solidFill>
                  <a:srgbClr val="CCCCCC"/>
                </a:solidFill>
                <a:effectLst/>
                <a:latin typeface="Agave" panose="020B0509030604020203" pitchFamily="49" charset="0"/>
              </a:rPr>
              <a:t>, </a:t>
            </a:r>
            <a:r>
              <a:rPr lang="en-AU" sz="2800" b="0" dirty="0">
                <a:solidFill>
                  <a:srgbClr val="9CDCFE"/>
                </a:solidFill>
                <a:effectLst/>
                <a:latin typeface="Agave" panose="020B0509030604020203" pitchFamily="49" charset="0"/>
              </a:rPr>
              <a:t>cols</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3</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3</a:t>
            </a:r>
            <a:r>
              <a:rPr lang="en-AU" sz="2800" b="0" dirty="0">
                <a:solidFill>
                  <a:srgbClr val="CCCCCC"/>
                </a:solidFill>
                <a:effectLst/>
                <a:latin typeface="Agave" panose="020B0509030604020203" pitchFamily="49" charset="0"/>
              </a:rPr>
              <a:t> </a:t>
            </a:r>
            <a:r>
              <a:rPr lang="en-AU" sz="2800" b="0" dirty="0">
                <a:solidFill>
                  <a:srgbClr val="6A9955"/>
                </a:solidFill>
                <a:effectLst/>
                <a:latin typeface="Agave" panose="020B0509030604020203" pitchFamily="49" charset="0"/>
              </a:rPr>
              <a:t># define the size of your 2D list</a:t>
            </a:r>
            <a:endParaRPr lang="en-AU" sz="2800" b="0" dirty="0">
              <a:solidFill>
                <a:srgbClr val="CCCCCC"/>
              </a:solidFill>
              <a:effectLst/>
              <a:latin typeface="Agave" panose="020B0509030604020203" pitchFamily="49" charset="0"/>
            </a:endParaRPr>
          </a:p>
          <a:p>
            <a:r>
              <a:rPr lang="en-AU" sz="2800" b="0" dirty="0" err="1">
                <a:solidFill>
                  <a:srgbClr val="9CDCFE"/>
                </a:solidFill>
                <a:effectLst/>
                <a:latin typeface="Agave" panose="020B0509030604020203" pitchFamily="49" charset="0"/>
              </a:rPr>
              <a:t>two_dim_list</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p>
          <a:p>
            <a:r>
              <a:rPr lang="en-AU" sz="2800" b="0" dirty="0">
                <a:solidFill>
                  <a:srgbClr val="C586C0"/>
                </a:solidFill>
                <a:effectLst/>
                <a:latin typeface="Agave" panose="020B0509030604020203" pitchFamily="49" charset="0"/>
              </a:rPr>
              <a:t>for</a:t>
            </a:r>
            <a:r>
              <a:rPr lang="en-AU" sz="2800" b="0" dirty="0">
                <a:solidFill>
                  <a:srgbClr val="CCCCCC"/>
                </a:solidFill>
                <a:effectLst/>
                <a:latin typeface="Agave" panose="020B0509030604020203" pitchFamily="49" charset="0"/>
              </a:rPr>
              <a:t> </a:t>
            </a:r>
            <a:r>
              <a:rPr lang="en-AU" sz="2800" b="0" dirty="0" err="1">
                <a:solidFill>
                  <a:srgbClr val="9CDCFE"/>
                </a:solidFill>
                <a:effectLst/>
                <a:latin typeface="Agave" panose="020B0509030604020203" pitchFamily="49" charset="0"/>
              </a:rPr>
              <a:t>i</a:t>
            </a:r>
            <a:r>
              <a:rPr lang="en-AU" sz="2800" b="0" dirty="0">
                <a:solidFill>
                  <a:srgbClr val="CCCCCC"/>
                </a:solidFill>
                <a:effectLst/>
                <a:latin typeface="Agave" panose="020B0509030604020203" pitchFamily="49" charset="0"/>
              </a:rPr>
              <a:t> </a:t>
            </a:r>
            <a:r>
              <a:rPr lang="en-AU" sz="2800" b="0" dirty="0">
                <a:solidFill>
                  <a:srgbClr val="C586C0"/>
                </a:solidFill>
                <a:effectLst/>
                <a:latin typeface="Agave" panose="020B0509030604020203" pitchFamily="49" charset="0"/>
              </a:rPr>
              <a:t>in</a:t>
            </a:r>
            <a:r>
              <a:rPr lang="en-AU" sz="2800" b="0" dirty="0">
                <a:solidFill>
                  <a:srgbClr val="CCCCCC"/>
                </a:solidFill>
                <a:effectLst/>
                <a:latin typeface="Agave" panose="020B0509030604020203" pitchFamily="49" charset="0"/>
              </a:rPr>
              <a:t> </a:t>
            </a:r>
            <a:r>
              <a:rPr lang="en-AU" sz="2800" b="0" dirty="0">
                <a:solidFill>
                  <a:srgbClr val="4EC9B0"/>
                </a:solidFill>
                <a:effectLst/>
                <a:latin typeface="Agave" panose="020B0509030604020203" pitchFamily="49" charset="0"/>
              </a:rPr>
              <a:t>range</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rows</a:t>
            </a:r>
            <a:r>
              <a:rPr lang="en-AU" sz="2800" b="0" dirty="0">
                <a:solidFill>
                  <a:srgbClr val="CCCCCC"/>
                </a:solidFill>
                <a:effectLst/>
                <a:latin typeface="Agave" panose="020B0509030604020203" pitchFamily="49" charset="0"/>
              </a:rPr>
              <a:t>):</a:t>
            </a:r>
          </a:p>
          <a:p>
            <a:r>
              <a:rPr lang="en-AU" sz="2800" b="0" dirty="0">
                <a:solidFill>
                  <a:srgbClr val="9CDCFE"/>
                </a:solidFill>
                <a:effectLst/>
                <a:latin typeface="Agave" panose="020B0509030604020203" pitchFamily="49" charset="0"/>
              </a:rPr>
              <a:t>	row</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p>
          <a:p>
            <a:r>
              <a:rPr lang="en-AU" sz="2800" b="0" dirty="0">
                <a:solidFill>
                  <a:srgbClr val="C586C0"/>
                </a:solidFill>
                <a:effectLst/>
                <a:latin typeface="Agave" panose="020B0509030604020203" pitchFamily="49" charset="0"/>
              </a:rPr>
              <a:t>	for</a:t>
            </a:r>
            <a:r>
              <a:rPr lang="en-AU" sz="2800" b="0" dirty="0">
                <a:solidFill>
                  <a:srgbClr val="CCCCCC"/>
                </a:solidFill>
                <a:effectLst/>
                <a:latin typeface="Agave" panose="020B0509030604020203" pitchFamily="49" charset="0"/>
              </a:rPr>
              <a:t> </a:t>
            </a:r>
            <a:r>
              <a:rPr lang="en-AU" sz="2800" b="0" dirty="0">
                <a:solidFill>
                  <a:srgbClr val="9CDCFE"/>
                </a:solidFill>
                <a:effectLst/>
                <a:latin typeface="Agave" panose="020B0509030604020203" pitchFamily="49" charset="0"/>
              </a:rPr>
              <a:t>j</a:t>
            </a:r>
            <a:r>
              <a:rPr lang="en-AU" sz="2800" b="0" dirty="0">
                <a:solidFill>
                  <a:srgbClr val="CCCCCC"/>
                </a:solidFill>
                <a:effectLst/>
                <a:latin typeface="Agave" panose="020B0509030604020203" pitchFamily="49" charset="0"/>
              </a:rPr>
              <a:t> </a:t>
            </a:r>
            <a:r>
              <a:rPr lang="en-AU" sz="2800" b="0" dirty="0">
                <a:solidFill>
                  <a:srgbClr val="C586C0"/>
                </a:solidFill>
                <a:effectLst/>
                <a:latin typeface="Agave" panose="020B0509030604020203" pitchFamily="49" charset="0"/>
              </a:rPr>
              <a:t>in</a:t>
            </a:r>
            <a:r>
              <a:rPr lang="en-AU" sz="2800" b="0" dirty="0">
                <a:solidFill>
                  <a:srgbClr val="CCCCCC"/>
                </a:solidFill>
                <a:effectLst/>
                <a:latin typeface="Agave" panose="020B0509030604020203" pitchFamily="49" charset="0"/>
              </a:rPr>
              <a:t> </a:t>
            </a:r>
            <a:r>
              <a:rPr lang="en-AU" sz="2800" b="0" dirty="0">
                <a:solidFill>
                  <a:srgbClr val="4EC9B0"/>
                </a:solidFill>
                <a:effectLst/>
                <a:latin typeface="Agave" panose="020B0509030604020203" pitchFamily="49" charset="0"/>
              </a:rPr>
              <a:t>range</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cols</a:t>
            </a:r>
            <a:r>
              <a:rPr lang="en-AU" sz="2800" b="0" dirty="0">
                <a:solidFill>
                  <a:srgbClr val="CCCCCC"/>
                </a:solidFill>
                <a:effectLst/>
                <a:latin typeface="Agave" panose="020B0509030604020203" pitchFamily="49" charset="0"/>
              </a:rPr>
              <a:t>):</a:t>
            </a:r>
          </a:p>
          <a:p>
            <a:r>
              <a:rPr lang="en-AU" sz="2800" b="0" dirty="0">
                <a:solidFill>
                  <a:srgbClr val="9CDCFE"/>
                </a:solidFill>
                <a:effectLst/>
                <a:latin typeface="Agave" panose="020B0509030604020203" pitchFamily="49" charset="0"/>
              </a:rPr>
              <a:t>		</a:t>
            </a:r>
            <a:r>
              <a:rPr lang="en-AU" sz="2800" b="0" dirty="0" err="1">
                <a:solidFill>
                  <a:srgbClr val="9CDCFE"/>
                </a:solidFill>
                <a:effectLst/>
                <a:latin typeface="Agave" panose="020B0509030604020203" pitchFamily="49" charset="0"/>
              </a:rPr>
              <a:t>row</a:t>
            </a:r>
            <a:r>
              <a:rPr lang="en-AU" sz="2800" b="0" dirty="0" err="1">
                <a:solidFill>
                  <a:srgbClr val="CCCCCC"/>
                </a:solidFill>
                <a:effectLst/>
                <a:latin typeface="Agave" panose="020B0509030604020203" pitchFamily="49" charset="0"/>
              </a:rPr>
              <a:t>.</a:t>
            </a:r>
            <a:r>
              <a:rPr lang="en-AU" sz="2800" b="0" dirty="0" err="1">
                <a:solidFill>
                  <a:srgbClr val="DCDCAA"/>
                </a:solidFill>
                <a:effectLst/>
                <a:latin typeface="Agave" panose="020B0509030604020203" pitchFamily="49" charset="0"/>
              </a:rPr>
              <a:t>append</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i</a:t>
            </a:r>
            <a:r>
              <a:rPr lang="en-AU" sz="2800" b="0" dirty="0">
                <a:solidFill>
                  <a:srgbClr val="D4D4D4"/>
                </a:solidFill>
                <a:effectLst/>
                <a:latin typeface="Agave" panose="020B0509030604020203" pitchFamily="49" charset="0"/>
              </a:rPr>
              <a:t>+</a:t>
            </a:r>
            <a:r>
              <a:rPr lang="en-AU" sz="2800" b="0" dirty="0">
                <a:solidFill>
                  <a:srgbClr val="B5CEA8"/>
                </a:solidFill>
                <a:effectLst/>
                <a:latin typeface="Agave" panose="020B0509030604020203" pitchFamily="49" charset="0"/>
              </a:rPr>
              <a:t>1</a:t>
            </a:r>
            <a:r>
              <a:rPr lang="en-AU" sz="2800" b="0" dirty="0">
                <a:solidFill>
                  <a:srgbClr val="CCCCCC"/>
                </a:solidFill>
                <a:effectLst/>
                <a:latin typeface="Agave" panose="020B0509030604020203" pitchFamily="49" charset="0"/>
              </a:rPr>
              <a:t>)</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j</a:t>
            </a:r>
            <a:r>
              <a:rPr lang="en-AU" sz="2800" b="0" dirty="0">
                <a:solidFill>
                  <a:srgbClr val="D4D4D4"/>
                </a:solidFill>
                <a:effectLst/>
                <a:latin typeface="Agave" panose="020B0509030604020203" pitchFamily="49" charset="0"/>
              </a:rPr>
              <a:t>+</a:t>
            </a:r>
            <a:r>
              <a:rPr lang="en-AU" sz="2800" b="0" dirty="0">
                <a:solidFill>
                  <a:srgbClr val="B5CEA8"/>
                </a:solidFill>
                <a:effectLst/>
                <a:latin typeface="Agave" panose="020B0509030604020203" pitchFamily="49" charset="0"/>
              </a:rPr>
              <a:t>1</a:t>
            </a:r>
            <a:r>
              <a:rPr lang="en-AU" sz="2800" b="0" dirty="0">
                <a:solidFill>
                  <a:srgbClr val="CCCCCC"/>
                </a:solidFill>
                <a:effectLst/>
                <a:latin typeface="Agave" panose="020B0509030604020203" pitchFamily="49" charset="0"/>
              </a:rPr>
              <a:t>))	</a:t>
            </a:r>
          </a:p>
          <a:p>
            <a:r>
              <a:rPr lang="en-AU" sz="2800" b="0" dirty="0">
                <a:solidFill>
                  <a:srgbClr val="9CDCFE"/>
                </a:solidFill>
                <a:effectLst/>
                <a:latin typeface="Agave" panose="020B0509030604020203" pitchFamily="49" charset="0"/>
              </a:rPr>
              <a:t>	</a:t>
            </a:r>
            <a:r>
              <a:rPr lang="en-AU" sz="2800" b="0" dirty="0" err="1">
                <a:solidFill>
                  <a:srgbClr val="9CDCFE"/>
                </a:solidFill>
                <a:effectLst/>
                <a:latin typeface="Agave" panose="020B0509030604020203" pitchFamily="49" charset="0"/>
              </a:rPr>
              <a:t>two_dim_list</a:t>
            </a:r>
            <a:r>
              <a:rPr lang="en-AU" sz="2800" b="0" dirty="0" err="1">
                <a:solidFill>
                  <a:srgbClr val="CCCCCC"/>
                </a:solidFill>
                <a:effectLst/>
                <a:latin typeface="Agave" panose="020B0509030604020203" pitchFamily="49" charset="0"/>
              </a:rPr>
              <a:t>.</a:t>
            </a:r>
            <a:r>
              <a:rPr lang="en-AU" sz="2800" b="0" dirty="0" err="1">
                <a:solidFill>
                  <a:srgbClr val="DCDCAA"/>
                </a:solidFill>
                <a:effectLst/>
                <a:latin typeface="Agave" panose="020B0509030604020203" pitchFamily="49" charset="0"/>
              </a:rPr>
              <a:t>append</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row</a:t>
            </a:r>
            <a:r>
              <a:rPr lang="en-AU" sz="2800" b="0" dirty="0">
                <a:solidFill>
                  <a:srgbClr val="CCCCCC"/>
                </a:solidFill>
                <a:effectLst/>
                <a:latin typeface="Agave" panose="020B0509030604020203" pitchFamily="49" charset="0"/>
              </a:rPr>
              <a:t>)</a:t>
            </a:r>
          </a:p>
          <a:p>
            <a:r>
              <a:rPr lang="en-AU" sz="2800" b="0" dirty="0">
                <a:solidFill>
                  <a:srgbClr val="DCDCAA"/>
                </a:solidFill>
                <a:effectLst/>
                <a:latin typeface="Agave" panose="020B0509030604020203" pitchFamily="49" charset="0"/>
              </a:rPr>
              <a:t>print</a:t>
            </a:r>
            <a:r>
              <a:rPr lang="en-AU" sz="2800" b="0" dirty="0">
                <a:solidFill>
                  <a:srgbClr val="CCCCCC"/>
                </a:solidFill>
                <a:effectLst/>
                <a:latin typeface="Agave" panose="020B0509030604020203" pitchFamily="49" charset="0"/>
              </a:rPr>
              <a:t>(</a:t>
            </a:r>
            <a:r>
              <a:rPr lang="en-AU" sz="2800" b="0" dirty="0" err="1">
                <a:solidFill>
                  <a:srgbClr val="9CDCFE"/>
                </a:solidFill>
                <a:effectLst/>
                <a:latin typeface="Agave" panose="020B0509030604020203" pitchFamily="49" charset="0"/>
              </a:rPr>
              <a:t>two_dim_list</a:t>
            </a:r>
            <a:r>
              <a:rPr lang="en-AU" sz="2800" b="0" dirty="0">
                <a:solidFill>
                  <a:srgbClr val="CCCCCC"/>
                </a:solidFill>
                <a:effectLst/>
                <a:latin typeface="Agave" panose="020B0509030604020203" pitchFamily="49" charset="0"/>
              </a:rPr>
              <a:t>) </a:t>
            </a:r>
            <a:r>
              <a:rPr lang="en-AU" sz="2800" b="0" dirty="0">
                <a:solidFill>
                  <a:srgbClr val="6A9955"/>
                </a:solidFill>
                <a:effectLst/>
                <a:latin typeface="Agave" panose="020B0509030604020203" pitchFamily="49" charset="0"/>
              </a:rPr>
              <a:t># prints: [[1, 2, 3], [2, 4, 6], [3, 6, 9]]</a:t>
            </a:r>
            <a:endParaRPr lang="en-AU" sz="2800" b="0" dirty="0">
              <a:solidFill>
                <a:srgbClr val="CCCCCC"/>
              </a:solidFill>
              <a:effectLst/>
              <a:latin typeface="Agave" panose="020B0509030604020203" pitchFamily="49" charset="0"/>
            </a:endParaRPr>
          </a:p>
        </p:txBody>
      </p:sp>
    </p:spTree>
    <p:extLst>
      <p:ext uri="{BB962C8B-B14F-4D97-AF65-F5344CB8AC3E}">
        <p14:creationId xmlns:p14="http://schemas.microsoft.com/office/powerpoint/2010/main" val="2110997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956A-0506-2D4D-5246-7597B6A9DAB7}"/>
              </a:ext>
            </a:extLst>
          </p:cNvPr>
          <p:cNvSpPr>
            <a:spLocks noGrp="1"/>
          </p:cNvSpPr>
          <p:nvPr>
            <p:ph type="title"/>
          </p:nvPr>
        </p:nvSpPr>
        <p:spPr/>
        <p:txBody>
          <a:bodyPr/>
          <a:lstStyle/>
          <a:p>
            <a:r>
              <a:rPr lang="en-US" dirty="0"/>
              <a:t>Caveats</a:t>
            </a:r>
          </a:p>
        </p:txBody>
      </p:sp>
      <p:sp>
        <p:nvSpPr>
          <p:cNvPr id="3" name="Content Placeholder 2">
            <a:extLst>
              <a:ext uri="{FF2B5EF4-FFF2-40B4-BE49-F238E27FC236}">
                <a16:creationId xmlns:a16="http://schemas.microsoft.com/office/drawing/2014/main" id="{60374C0D-D541-54F3-A2EF-F048D8ACFD72}"/>
              </a:ext>
            </a:extLst>
          </p:cNvPr>
          <p:cNvSpPr>
            <a:spLocks noGrp="1"/>
          </p:cNvSpPr>
          <p:nvPr>
            <p:ph idx="1"/>
          </p:nvPr>
        </p:nvSpPr>
        <p:spPr/>
        <p:txBody>
          <a:bodyPr/>
          <a:lstStyle/>
          <a:p>
            <a:r>
              <a:rPr lang="en-US" dirty="0"/>
              <a:t>Iteration is slow in Python (and most interpreted languages)</a:t>
            </a:r>
          </a:p>
          <a:p>
            <a:r>
              <a:rPr lang="en-US" dirty="0"/>
              <a:t>Think of some of the examples we gave: </a:t>
            </a:r>
          </a:p>
          <a:p>
            <a:pPr lvl="1"/>
            <a:r>
              <a:rPr lang="en-US" dirty="0"/>
              <a:t>High-res images</a:t>
            </a:r>
          </a:p>
          <a:p>
            <a:pPr lvl="1"/>
            <a:r>
              <a:rPr lang="en-US" dirty="0"/>
              <a:t>Complex data analysis</a:t>
            </a:r>
          </a:p>
          <a:p>
            <a:pPr lvl="1"/>
            <a:r>
              <a:rPr lang="en-US" dirty="0"/>
              <a:t>Remember in python E.V.R.Y.THING is an object</a:t>
            </a:r>
          </a:p>
          <a:p>
            <a:pPr lvl="1"/>
            <a:r>
              <a:rPr lang="en-US" dirty="0"/>
              <a:t>Not good, right?!</a:t>
            </a:r>
          </a:p>
          <a:p>
            <a:pPr lvl="1"/>
            <a:endParaRPr lang="en-US" dirty="0"/>
          </a:p>
        </p:txBody>
      </p:sp>
    </p:spTree>
    <p:extLst>
      <p:ext uri="{BB962C8B-B14F-4D97-AF65-F5344CB8AC3E}">
        <p14:creationId xmlns:p14="http://schemas.microsoft.com/office/powerpoint/2010/main" val="3908020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78F-324C-63B0-59AA-80A421FBF9A8}"/>
              </a:ext>
            </a:extLst>
          </p:cNvPr>
          <p:cNvSpPr>
            <a:spLocks noGrp="1"/>
          </p:cNvSpPr>
          <p:nvPr>
            <p:ph type="title"/>
          </p:nvPr>
        </p:nvSpPr>
        <p:spPr/>
        <p:txBody>
          <a:bodyPr/>
          <a:lstStyle/>
          <a:p>
            <a:r>
              <a:rPr lang="en-US" dirty="0"/>
              <a:t>How the pros do it…</a:t>
            </a:r>
          </a:p>
        </p:txBody>
      </p:sp>
      <p:sp>
        <p:nvSpPr>
          <p:cNvPr id="3" name="Content Placeholder 2">
            <a:extLst>
              <a:ext uri="{FF2B5EF4-FFF2-40B4-BE49-F238E27FC236}">
                <a16:creationId xmlns:a16="http://schemas.microsoft.com/office/drawing/2014/main" id="{BB7E4064-3C1F-316A-16BC-D4D573921EE1}"/>
              </a:ext>
            </a:extLst>
          </p:cNvPr>
          <p:cNvSpPr>
            <a:spLocks noGrp="1"/>
          </p:cNvSpPr>
          <p:nvPr>
            <p:ph idx="1"/>
          </p:nvPr>
        </p:nvSpPr>
        <p:spPr/>
        <p:txBody>
          <a:bodyPr/>
          <a:lstStyle/>
          <a:p>
            <a:r>
              <a:rPr lang="en-US" b="1" dirty="0" err="1"/>
              <a:t>Numpy</a:t>
            </a:r>
            <a:r>
              <a:rPr lang="en-US" dirty="0"/>
              <a:t>: actual arrays with vectorized operations on each element (efficient, fast, very)</a:t>
            </a:r>
          </a:p>
          <a:p>
            <a:r>
              <a:rPr lang="en-US" b="1" dirty="0"/>
              <a:t>Pandas</a:t>
            </a:r>
            <a:r>
              <a:rPr lang="en-US" dirty="0"/>
              <a:t>: builds on </a:t>
            </a:r>
            <a:r>
              <a:rPr lang="en-US" dirty="0" err="1"/>
              <a:t>numpy</a:t>
            </a:r>
            <a:r>
              <a:rPr lang="en-US" dirty="0"/>
              <a:t> to create a full-featured tabular* data structure. Fast, efficient, and with lots of programmatic spreadsheet goodness!</a:t>
            </a:r>
          </a:p>
          <a:p>
            <a:pPr marL="0" indent="0">
              <a:buNone/>
            </a:pPr>
            <a:endParaRPr lang="en-US" dirty="0"/>
          </a:p>
          <a:p>
            <a:pPr marL="0" indent="0">
              <a:buNone/>
            </a:pPr>
            <a:endParaRPr lang="en-US" dirty="0"/>
          </a:p>
          <a:p>
            <a:pPr marL="0" indent="0">
              <a:buNone/>
            </a:pPr>
            <a:r>
              <a:rPr lang="en-US" sz="2400" dirty="0"/>
              <a:t>*</a:t>
            </a:r>
            <a:r>
              <a:rPr lang="en-US" sz="2400" dirty="0" err="1"/>
              <a:t>DataFrame</a:t>
            </a:r>
            <a:r>
              <a:rPr lang="en-US" sz="2400" dirty="0"/>
              <a:t>: a labeled 2D structure</a:t>
            </a:r>
          </a:p>
        </p:txBody>
      </p:sp>
    </p:spTree>
    <p:extLst>
      <p:ext uri="{BB962C8B-B14F-4D97-AF65-F5344CB8AC3E}">
        <p14:creationId xmlns:p14="http://schemas.microsoft.com/office/powerpoint/2010/main" val="984226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438150" y="2295960"/>
            <a:ext cx="10972800" cy="4563491"/>
          </a:xfrm>
        </p:spPr>
        <p:txBody>
          <a:bodyPr/>
          <a:lstStyle/>
          <a:p>
            <a:r>
              <a:rPr lang="en-US" dirty="0"/>
              <a:t>Images can be represented as a grid</a:t>
            </a:r>
          </a:p>
          <a:p>
            <a:r>
              <a:rPr lang="en-US" dirty="0"/>
              <a:t>The grid contains R, G, B values</a:t>
            </a:r>
          </a:p>
          <a:p>
            <a:r>
              <a:rPr lang="en-US" dirty="0"/>
              <a:t>How many dimensions?</a:t>
            </a:r>
          </a:p>
          <a:p>
            <a:pPr marL="0" indent="0">
              <a:buNone/>
            </a:pPr>
            <a:endParaRPr lang="en-US" dirty="0"/>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266700" y="917034"/>
            <a:ext cx="10972800" cy="1003205"/>
          </a:xfrm>
        </p:spPr>
        <p:txBody>
          <a:bodyPr/>
          <a:lstStyle/>
          <a:p>
            <a:r>
              <a:rPr lang="en-US" dirty="0"/>
              <a:t>Challenge</a:t>
            </a:r>
          </a:p>
        </p:txBody>
      </p:sp>
      <p:pic>
        <p:nvPicPr>
          <p:cNvPr id="4098" name="Picture 2" descr="Raspberry Pi RGB-LED-Matrix Expansion Module (Seeed Studio) | SS317990017 |  Core Electronics Australia">
            <a:extLst>
              <a:ext uri="{FF2B5EF4-FFF2-40B4-BE49-F238E27FC236}">
                <a16:creationId xmlns:a16="http://schemas.microsoft.com/office/drawing/2014/main" id="{18D53705-9AC3-9FD7-33EA-2274AEF7039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753100" y="714375"/>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996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0972800" cy="1003205"/>
          </a:xfrm>
        </p:spPr>
        <p:txBody>
          <a:bodyPr/>
          <a:lstStyle/>
          <a:p>
            <a:r>
              <a:rPr lang="en-US" dirty="0"/>
              <a:t>2D plus 1 more…</a:t>
            </a:r>
          </a:p>
        </p:txBody>
      </p:sp>
      <p:sp>
        <p:nvSpPr>
          <p:cNvPr id="3" name="TextBox 2">
            <a:extLst>
              <a:ext uri="{FF2B5EF4-FFF2-40B4-BE49-F238E27FC236}">
                <a16:creationId xmlns:a16="http://schemas.microsoft.com/office/drawing/2014/main" id="{7BC8CDEF-B873-D3FF-4329-11375957FE52}"/>
              </a:ext>
            </a:extLst>
          </p:cNvPr>
          <p:cNvSpPr txBox="1"/>
          <p:nvPr/>
        </p:nvSpPr>
        <p:spPr>
          <a:xfrm>
            <a:off x="583057" y="2241246"/>
            <a:ext cx="10972800" cy="2677656"/>
          </a:xfrm>
          <a:prstGeom prst="rect">
            <a:avLst/>
          </a:prstGeom>
          <a:noFill/>
        </p:spPr>
        <p:txBody>
          <a:bodyPr wrap="square">
            <a:spAutoFit/>
          </a:bodyPr>
          <a:lstStyle/>
          <a:p>
            <a:pPr marL="285750" indent="-285750">
              <a:buFont typeface="Arial" panose="020B0604020202020204" pitchFamily="34" charset="0"/>
              <a:buChar char="•"/>
            </a:pPr>
            <a:r>
              <a:rPr lang="en-AU" sz="28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e</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ach point in the grid is defined by its position and its colour. </a:t>
            </a:r>
          </a:p>
          <a:p>
            <a:pPr marL="285750" indent="-285750">
              <a:buFont typeface="Arial" panose="020B0604020202020204" pitchFamily="34" charset="0"/>
              <a:buChar char="•"/>
            </a:pPr>
            <a:r>
              <a:rPr lang="en-AU" sz="28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t</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he position of any point in the grid is given by its coordinates - </a:t>
            </a:r>
            <a:r>
              <a:rPr lang="en-AU" sz="2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h, w </a:t>
            </a:r>
          </a:p>
          <a:p>
            <a:pPr marL="285750" indent="-285750">
              <a:buFont typeface="Arial" panose="020B0604020202020204" pitchFamily="34" charset="0"/>
              <a:buChar char="•"/>
            </a:pP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where `</a:t>
            </a:r>
            <a:r>
              <a:rPr lang="en-AU" sz="2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h</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the height (</a:t>
            </a:r>
            <a:r>
              <a:rPr lang="en-AU" sz="2800" kern="100" dirty="0">
                <a:solidFill>
                  <a:schemeClr val="accent3"/>
                </a:solidFill>
                <a:effectLst/>
                <a:latin typeface="Aptos" panose="020B0004020202020204" pitchFamily="34" charset="0"/>
                <a:ea typeface="Aptos" panose="020B0004020202020204" pitchFamily="34" charset="0"/>
                <a:cs typeface="Times New Roman" panose="02020603050405020304" pitchFamily="18" charset="0"/>
              </a:rPr>
              <a:t>row</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AU" sz="2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w</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the width (</a:t>
            </a:r>
            <a:r>
              <a:rPr lang="en-AU" sz="2800" kern="100" dirty="0">
                <a:solidFill>
                  <a:schemeClr val="accent3"/>
                </a:solidFill>
                <a:effectLst/>
                <a:latin typeface="Aptos" panose="020B0004020202020204" pitchFamily="34" charset="0"/>
                <a:ea typeface="Aptos" panose="020B0004020202020204" pitchFamily="34" charset="0"/>
                <a:cs typeface="Times New Roman" panose="02020603050405020304" pitchFamily="18" charset="0"/>
              </a:rPr>
              <a:t>column</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285750" indent="-285750">
              <a:buFont typeface="Arial" panose="020B0604020202020204" pitchFamily="34" charset="0"/>
              <a:buChar char="•"/>
            </a:pPr>
            <a:endParaRPr lang="en-AU" sz="2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r>
              <a:rPr lang="en-AU" sz="2800" i="1" kern="100" dirty="0">
                <a:solidFill>
                  <a:schemeClr val="accent1"/>
                </a:solidFill>
                <a:latin typeface="Aptos" panose="020B0004020202020204" pitchFamily="34" charset="0"/>
                <a:ea typeface="Aptos" panose="020B0004020202020204" pitchFamily="34" charset="0"/>
                <a:cs typeface="Times New Roman" panose="02020603050405020304" pitchFamily="18" charset="0"/>
              </a:rPr>
              <a:t>However, t</a:t>
            </a:r>
            <a:r>
              <a:rPr lang="en-AU" sz="2800" i="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he colour of a point is represented by  RGB values (r, g, b) describing the </a:t>
            </a:r>
            <a:r>
              <a:rPr lang="en-AU" sz="2800" i="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red</a:t>
            </a:r>
            <a:r>
              <a:rPr lang="en-AU" sz="2800" i="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a:t>
            </a:r>
            <a:r>
              <a:rPr lang="en-AU" sz="2800" i="1" kern="100" dirty="0">
                <a:solidFill>
                  <a:schemeClr val="accent3"/>
                </a:solidFill>
                <a:effectLst/>
                <a:latin typeface="Aptos" panose="020B0004020202020204" pitchFamily="34" charset="0"/>
                <a:ea typeface="Aptos" panose="020B0004020202020204" pitchFamily="34" charset="0"/>
                <a:cs typeface="Times New Roman" panose="02020603050405020304" pitchFamily="18" charset="0"/>
              </a:rPr>
              <a:t> green</a:t>
            </a:r>
            <a:r>
              <a:rPr lang="en-AU" sz="2800" i="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 and blue components.</a:t>
            </a:r>
          </a:p>
        </p:txBody>
      </p:sp>
    </p:spTree>
    <p:extLst>
      <p:ext uri="{BB962C8B-B14F-4D97-AF65-F5344CB8AC3E}">
        <p14:creationId xmlns:p14="http://schemas.microsoft.com/office/powerpoint/2010/main" val="1473861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399513" y="2786656"/>
            <a:ext cx="5859619" cy="1647719"/>
          </a:xfrm>
        </p:spPr>
        <p:txBody>
          <a:bodyPr>
            <a:normAutofit/>
          </a:bodyPr>
          <a:lstStyle/>
          <a:p>
            <a:pPr marL="0" indent="0">
              <a:buNone/>
            </a:pPr>
            <a:r>
              <a:rPr lang="en-US" dirty="0"/>
              <a:t>These additional properties for each grid point can be considered a 3</a:t>
            </a:r>
            <a:r>
              <a:rPr lang="en-US" baseline="30000" dirty="0"/>
              <a:t>rd</a:t>
            </a:r>
            <a:r>
              <a:rPr lang="en-US" dirty="0"/>
              <a:t> dimension</a:t>
            </a:r>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0972800" cy="1003205"/>
          </a:xfrm>
        </p:spPr>
        <p:txBody>
          <a:bodyPr/>
          <a:lstStyle/>
          <a:p>
            <a:r>
              <a:rPr lang="en-US" dirty="0"/>
              <a:t>3</a:t>
            </a:r>
            <a:r>
              <a:rPr lang="en-US" baseline="30000" dirty="0"/>
              <a:t>rd</a:t>
            </a:r>
            <a:r>
              <a:rPr lang="en-US" dirty="0"/>
              <a:t> Dimension</a:t>
            </a:r>
          </a:p>
        </p:txBody>
      </p:sp>
      <p:pic>
        <p:nvPicPr>
          <p:cNvPr id="3" name="Picture 2" descr="A graph of color and scale&#10;&#10;Description automatically generated with medium confidence">
            <a:extLst>
              <a:ext uri="{FF2B5EF4-FFF2-40B4-BE49-F238E27FC236}">
                <a16:creationId xmlns:a16="http://schemas.microsoft.com/office/drawing/2014/main" id="{1FC073BC-4B32-1C9A-C95C-98ED8BD796FC}"/>
              </a:ext>
            </a:extLst>
          </p:cNvPr>
          <p:cNvPicPr>
            <a:picLocks noChangeAspect="1"/>
          </p:cNvPicPr>
          <p:nvPr/>
        </p:nvPicPr>
        <p:blipFill>
          <a:blip r:embed="rId3"/>
          <a:stretch>
            <a:fillRect/>
          </a:stretch>
        </p:blipFill>
        <p:spPr>
          <a:xfrm>
            <a:off x="6787613" y="1280066"/>
            <a:ext cx="4584700" cy="4660900"/>
          </a:xfrm>
          <a:prstGeom prst="rect">
            <a:avLst/>
          </a:prstGeom>
        </p:spPr>
      </p:pic>
    </p:spTree>
    <p:extLst>
      <p:ext uri="{BB962C8B-B14F-4D97-AF65-F5344CB8AC3E}">
        <p14:creationId xmlns:p14="http://schemas.microsoft.com/office/powerpoint/2010/main" val="779293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82C6-97BD-7F90-80FD-68C8865024FC}"/>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A0F2ADE1-654B-B7D7-7E8C-66CED85F9B50}"/>
              </a:ext>
            </a:extLst>
          </p:cNvPr>
          <p:cNvSpPr>
            <a:spLocks noGrp="1"/>
          </p:cNvSpPr>
          <p:nvPr>
            <p:ph idx="1"/>
          </p:nvPr>
        </p:nvSpPr>
        <p:spPr/>
        <p:txBody>
          <a:bodyPr>
            <a:normAutofit/>
          </a:bodyPr>
          <a:lstStyle/>
          <a:p>
            <a:r>
              <a:rPr lang="en-AU" b="0" i="0" dirty="0">
                <a:solidFill>
                  <a:srgbClr val="D1D5DB"/>
                </a:solidFill>
                <a:effectLst/>
                <a:latin typeface="Söhne"/>
              </a:rPr>
              <a:t>How can you create a 2D list in Python both with and without list comprehension? Provide an example for each.</a:t>
            </a:r>
          </a:p>
          <a:p>
            <a:r>
              <a:rPr lang="en-AU" b="0" i="0" dirty="0">
                <a:solidFill>
                  <a:srgbClr val="D1D5DB"/>
                </a:solidFill>
                <a:effectLst/>
                <a:latin typeface="Söhne"/>
              </a:rPr>
              <a:t>How would you access the element at row </a:t>
            </a:r>
            <a:r>
              <a:rPr lang="en-AU" b="0" i="0" dirty="0" err="1">
                <a:solidFill>
                  <a:srgbClr val="D1D5DB"/>
                </a:solidFill>
                <a:effectLst/>
                <a:latin typeface="Söhne"/>
              </a:rPr>
              <a:t>i</a:t>
            </a:r>
            <a:r>
              <a:rPr lang="en-AU" b="0" i="0" dirty="0">
                <a:solidFill>
                  <a:srgbClr val="D1D5DB"/>
                </a:solidFill>
                <a:effectLst/>
                <a:latin typeface="Söhne"/>
              </a:rPr>
              <a:t> and column j of a 2D list? Is this sequential or random access?</a:t>
            </a:r>
          </a:p>
          <a:p>
            <a:r>
              <a:rPr lang="en-AU" b="0" i="0" dirty="0">
                <a:solidFill>
                  <a:srgbClr val="D1D5DB"/>
                </a:solidFill>
                <a:effectLst/>
                <a:latin typeface="Söhne"/>
              </a:rPr>
              <a:t>Explain the difference between sequential and random access when working with 2D lists. When would you use one over the other?</a:t>
            </a:r>
          </a:p>
        </p:txBody>
      </p:sp>
    </p:spTree>
    <p:extLst>
      <p:ext uri="{BB962C8B-B14F-4D97-AF65-F5344CB8AC3E}">
        <p14:creationId xmlns:p14="http://schemas.microsoft.com/office/powerpoint/2010/main" val="3713960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82C6-97BD-7F90-80FD-68C8865024FC}"/>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A0F2ADE1-654B-B7D7-7E8C-66CED85F9B50}"/>
              </a:ext>
            </a:extLst>
          </p:cNvPr>
          <p:cNvSpPr>
            <a:spLocks noGrp="1"/>
          </p:cNvSpPr>
          <p:nvPr>
            <p:ph idx="1"/>
          </p:nvPr>
        </p:nvSpPr>
        <p:spPr/>
        <p:txBody>
          <a:bodyPr>
            <a:normAutofit/>
          </a:bodyPr>
          <a:lstStyle/>
          <a:p>
            <a:r>
              <a:rPr lang="en-AU" b="0" i="0" dirty="0">
                <a:solidFill>
                  <a:srgbClr val="D1D5DB"/>
                </a:solidFill>
                <a:effectLst/>
                <a:latin typeface="Söhne"/>
              </a:rPr>
              <a:t>What are some practical uses of 2D lists in Python? Provide at least two examples where 2D lists could be useful.</a:t>
            </a:r>
          </a:p>
          <a:p>
            <a:r>
              <a:rPr lang="en-AU" b="0" i="0" dirty="0">
                <a:solidFill>
                  <a:srgbClr val="D1D5DB"/>
                </a:solidFill>
                <a:effectLst/>
                <a:latin typeface="Söhne"/>
              </a:rPr>
              <a:t>What are some potential pitfalls or limitations when working with 2D lists in Python? How might you work around these?</a:t>
            </a:r>
          </a:p>
          <a:p>
            <a:r>
              <a:rPr lang="en-AU" b="0" i="0" dirty="0">
                <a:solidFill>
                  <a:srgbClr val="D1D5DB"/>
                </a:solidFill>
                <a:effectLst/>
                <a:latin typeface="Söhne"/>
              </a:rPr>
              <a:t>Why might you use libraries like NumPy or Pandas for working with 2D data structures instead of native Python lists? Discuss the benefits they offer and how they build upon Python's native lists and NumPy's arrays.</a:t>
            </a:r>
          </a:p>
        </p:txBody>
      </p:sp>
    </p:spTree>
    <p:extLst>
      <p:ext uri="{BB962C8B-B14F-4D97-AF65-F5344CB8AC3E}">
        <p14:creationId xmlns:p14="http://schemas.microsoft.com/office/powerpoint/2010/main" val="2980254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82C6-97BD-7F90-80FD-68C8865024FC}"/>
              </a:ext>
            </a:extLst>
          </p:cNvPr>
          <p:cNvSpPr>
            <a:spLocks noGrp="1"/>
          </p:cNvSpPr>
          <p:nvPr>
            <p:ph type="title"/>
          </p:nvPr>
        </p:nvSpPr>
        <p:spPr/>
        <p:txBody>
          <a:bodyPr/>
          <a:lstStyle/>
          <a:p>
            <a:r>
              <a:rPr lang="en-US" dirty="0"/>
              <a:t>Finally:</a:t>
            </a:r>
          </a:p>
        </p:txBody>
      </p:sp>
      <p:sp>
        <p:nvSpPr>
          <p:cNvPr id="3" name="Content Placeholder 2">
            <a:extLst>
              <a:ext uri="{FF2B5EF4-FFF2-40B4-BE49-F238E27FC236}">
                <a16:creationId xmlns:a16="http://schemas.microsoft.com/office/drawing/2014/main" id="{A0F2ADE1-654B-B7D7-7E8C-66CED85F9B50}"/>
              </a:ext>
            </a:extLst>
          </p:cNvPr>
          <p:cNvSpPr>
            <a:spLocks noGrp="1"/>
          </p:cNvSpPr>
          <p:nvPr>
            <p:ph idx="1"/>
          </p:nvPr>
        </p:nvSpPr>
        <p:spPr/>
        <p:txBody>
          <a:bodyPr/>
          <a:lstStyle/>
          <a:p>
            <a:pPr lvl="1"/>
            <a:r>
              <a:rPr lang="en-US" dirty="0"/>
              <a:t>Consider the tic-tac-toe game: what data structure does it use? What should it use? How could you use it?</a:t>
            </a:r>
          </a:p>
          <a:p>
            <a:endParaRPr lang="en-US" dirty="0"/>
          </a:p>
        </p:txBody>
      </p:sp>
    </p:spTree>
    <p:extLst>
      <p:ext uri="{BB962C8B-B14F-4D97-AF65-F5344CB8AC3E}">
        <p14:creationId xmlns:p14="http://schemas.microsoft.com/office/powerpoint/2010/main" val="1551441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Props1.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3.xml><?xml version="1.0" encoding="utf-8"?>
<ds:datastoreItem xmlns:ds="http://schemas.openxmlformats.org/officeDocument/2006/customXml" ds:itemID="{D6F79D9B-5A67-492D-BB4F-F3913BAD9421}">
  <ds:schemaRefs>
    <ds:schemaRef ds:uri="833ce3ab-d172-455c-9989-f10facae9784"/>
    <ds:schemaRef ds:uri="http://www.w3.org/XML/1998/namespace"/>
    <ds:schemaRef ds:uri="http://purl.org/dc/terms/"/>
    <ds:schemaRef ds:uri="http://schemas.openxmlformats.org/package/2006/metadata/core-properties"/>
    <ds:schemaRef ds:uri="http://schemas.microsoft.com/office/2006/metadata/properties"/>
    <ds:schemaRef ds:uri="3936cbe9-feea-4685-b03c-7f8d09c550f1"/>
    <ds:schemaRef ds:uri="http://purl.org/dc/dcmitype/"/>
    <ds:schemaRef ds:uri="http://schemas.microsoft.com/office/2006/documentManagement/types"/>
    <ds:schemaRef ds:uri="http://purl.org/dc/elements/1.1/"/>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8258</TotalTime>
  <Words>2140</Words>
  <Application>Microsoft Office PowerPoint</Application>
  <PresentationFormat>Widescreen</PresentationFormat>
  <Paragraphs>168</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Agave</vt:lpstr>
      <vt:lpstr>Aptos</vt:lpstr>
      <vt:lpstr>Arial</vt:lpstr>
      <vt:lpstr>Calibri</vt:lpstr>
      <vt:lpstr>Century Gothic</vt:lpstr>
      <vt:lpstr>Söhne</vt:lpstr>
      <vt:lpstr>Office Theme</vt:lpstr>
      <vt:lpstr>2D Data Structures –  how, why, when?</vt:lpstr>
      <vt:lpstr>Consider</vt:lpstr>
      <vt:lpstr>Accessing a 2D list (List of Lists)</vt:lpstr>
      <vt:lpstr>More readable presentation</vt:lpstr>
      <vt:lpstr>Sequential iteration (nested loop pattern)</vt:lpstr>
      <vt:lpstr>Iteratively created a rows x cols list</vt:lpstr>
      <vt:lpstr>Caveats</vt:lpstr>
      <vt:lpstr>How the pros do it…</vt:lpstr>
      <vt:lpstr>Challenge</vt:lpstr>
      <vt:lpstr>2D plus 1 more…</vt:lpstr>
      <vt:lpstr>3rd Dimension</vt:lpstr>
      <vt:lpstr>Revision</vt:lpstr>
      <vt:lpstr>Revision</vt:lpstr>
      <vt:lpstr>Finally: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sockets</dc:title>
  <dc:creator>Sander Huijsen</dc:creator>
  <cp:lastModifiedBy>Maryam Shahabi Lotfabadi</cp:lastModifiedBy>
  <cp:revision>37</cp:revision>
  <dcterms:created xsi:type="dcterms:W3CDTF">2020-10-19T10:08:52Z</dcterms:created>
  <dcterms:modified xsi:type="dcterms:W3CDTF">2026-07-27T07:15:32Z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2023-07-25T09:26:32Z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049d08b0-2175-47f4-b162-74ea7c14a0a2</vt:lpwstr>
  </property>
  <property fmtid="{D5CDD505-2E9C-101B-9397-08002B2CF9AE}" pid="8" name="MSIP_Label_f3ac7e5b-5da2-46c7-8677-8a6b50f7d886_ContentBits">
    <vt:lpwstr>1</vt:lpwstr>
  </property>
  <property fmtid="{D5CDD505-2E9C-101B-9397-08002B2CF9AE}" pid="9" name="ClassificationContentMarkingHeaderLocations">
    <vt:lpwstr>Office Theme:7</vt:lpwstr>
  </property>
  <property fmtid="{D5CDD505-2E9C-101B-9397-08002B2CF9AE}" pid="10" name="ClassificationContentMarkingHeaderText">
    <vt:lpwstr>OFFICIAL</vt:lpwstr>
  </property>
</Properties>
</file>