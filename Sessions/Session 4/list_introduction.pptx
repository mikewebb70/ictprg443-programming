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3"/>
  </p:notesMasterIdLst>
  <p:sldIdLst>
    <p:sldId id="406" r:id="rId5"/>
    <p:sldId id="469" r:id="rId6"/>
    <p:sldId id="471" r:id="rId7"/>
    <p:sldId id="472" r:id="rId8"/>
    <p:sldId id="473" r:id="rId9"/>
    <p:sldId id="474" r:id="rId10"/>
    <p:sldId id="475" r:id="rId11"/>
    <p:sldId id="476" r:id="rId12"/>
    <p:sldId id="477" r:id="rId13"/>
    <p:sldId id="478" r:id="rId14"/>
    <p:sldId id="479" r:id="rId15"/>
    <p:sldId id="480" r:id="rId16"/>
    <p:sldId id="481" r:id="rId17"/>
    <p:sldId id="482" r:id="rId18"/>
    <p:sldId id="483" r:id="rId19"/>
    <p:sldId id="484" r:id="rId20"/>
    <p:sldId id="488" r:id="rId21"/>
    <p:sldId id="493" r:id="rId22"/>
  </p:sldIdLst>
  <p:sldSz cx="12192000" cy="6858000"/>
  <p:notesSz cx="7104063" cy="10234613"/>
  <p:custDataLst>
    <p:tags r:id="rId2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CB743C-D873-4233-9D28-B8C4BDC855B1}">
          <p14:sldIdLst>
            <p14:sldId id="406"/>
            <p14:sldId id="469"/>
            <p14:sldId id="471"/>
            <p14:sldId id="472"/>
            <p14:sldId id="473"/>
            <p14:sldId id="474"/>
            <p14:sldId id="475"/>
            <p14:sldId id="476"/>
            <p14:sldId id="477"/>
            <p14:sldId id="478"/>
            <p14:sldId id="479"/>
            <p14:sldId id="480"/>
            <p14:sldId id="481"/>
            <p14:sldId id="482"/>
            <p14:sldId id="483"/>
            <p14:sldId id="484"/>
            <p14:sldId id="488"/>
            <p14:sldId id="493"/>
          </p14:sldIdLst>
        </p14:section>
        <p14:section name="Writing files (basic)" id="{EA7BE787-30FE-5346-8F04-B940848D545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D81C24"/>
    <a:srgbClr val="D9272E"/>
    <a:srgbClr val="9BBB59"/>
    <a:srgbClr val="00DC65"/>
    <a:srgbClr val="000000"/>
    <a:srgbClr val="D8262E"/>
    <a:srgbClr val="D22F27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3"/>
    <p:restoredTop sz="67347"/>
  </p:normalViewPr>
  <p:slideViewPr>
    <p:cSldViewPr snapToGrid="0">
      <p:cViewPr varScale="1">
        <p:scale>
          <a:sx n="84" d="100"/>
          <a:sy n="84" d="100"/>
        </p:scale>
        <p:origin x="2448" y="176"/>
      </p:cViewPr>
      <p:guideLst>
        <p:guide orient="horz" pos="2160"/>
        <p:guide pos="3840"/>
      </p:guideLst>
    </p:cSldViewPr>
  </p:slideViewPr>
  <p:notesTextViewPr>
    <p:cViewPr>
      <p:scale>
        <a:sx n="300" d="100"/>
        <a:sy n="30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7EA1514-F326-1840-B15D-D4720038598B}" type="datetimeFigureOut">
              <a:rPr lang="en-US" smtClean="0"/>
              <a:t>2/26/24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BA3E024E-F835-6D45-89C3-0E2F93EE79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57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145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72" name="Shape 1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6837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94" name="Shape 19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7711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01" name="Shape 20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4354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1" name="Shape 2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9714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25" name="Shape 22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825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2" name="Shape 23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3324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9" name="Shape 23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127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6" name="Shape 24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9468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4" name="Shape 25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73929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61" name="Shape 26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8481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2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68" name="Shape 26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0856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2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75" name="Shape 27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12026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82" name="Shape 2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29260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89" name="Shape 2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1387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6" name="Shape 29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64204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324" name="Shape 32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37180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3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71" name="Shape 3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4242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 userDrawn="1"/>
        </p:nvSpPr>
        <p:spPr>
          <a:xfrm>
            <a:off x="920424" y="691642"/>
            <a:ext cx="10360351" cy="5616575"/>
          </a:xfrm>
          <a:prstGeom prst="roundRect">
            <a:avLst>
              <a:gd name="adj" fmla="val 766"/>
            </a:avLst>
          </a:prstGeom>
          <a:solidFill>
            <a:srgbClr val="D81C24">
              <a:alpha val="14902"/>
            </a:srgbClr>
          </a:solidFill>
          <a:ln>
            <a:solidFill>
              <a:srgbClr val="D8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00" dirty="0">
              <a:latin typeface="+mj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2/26/24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51133" y="1293778"/>
            <a:ext cx="10084038" cy="1396829"/>
          </a:xfrm>
          <a:prstGeom prst="rect">
            <a:avLst/>
          </a:prstGeom>
          <a:noFill/>
        </p:spPr>
        <p:txBody>
          <a:bodyPr anchor="t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AU" noProof="0"/>
              <a:t>Session/Presentation Title</a:t>
            </a:r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3" hasCustomPrompt="1"/>
          </p:nvPr>
        </p:nvSpPr>
        <p:spPr>
          <a:xfrm>
            <a:off x="1051131" y="4572000"/>
            <a:ext cx="10084039" cy="1610037"/>
          </a:xfrm>
          <a:noFill/>
        </p:spPr>
        <p:txBody>
          <a:bodyPr anchor="t">
            <a:normAutofit/>
          </a:bodyPr>
          <a:lstStyle>
            <a:lvl1pPr marL="0" indent="0">
              <a:buNone/>
              <a:defRPr sz="14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AU" dirty="0"/>
              <a:t>Replace this with a table of units – 2 columns – National ID and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1051132" y="819761"/>
            <a:ext cx="10084039" cy="341659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AU"/>
              <a:t>Week/Session 00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51130" y="4119576"/>
            <a:ext cx="10084038" cy="360698"/>
          </a:xfrm>
          <a:noFill/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AU" sz="1600" b="0" dirty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noProof="0"/>
              <a:t>Cluster Name</a:t>
            </a:r>
            <a:endParaRPr lang="en-AU"/>
          </a:p>
        </p:txBody>
      </p:sp>
      <p:sp>
        <p:nvSpPr>
          <p:cNvPr id="9" name="TextBox 8"/>
          <p:cNvSpPr txBox="1"/>
          <p:nvPr userDrawn="1"/>
        </p:nvSpPr>
        <p:spPr>
          <a:xfrm>
            <a:off x="1051132" y="2852738"/>
            <a:ext cx="1939896" cy="5723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indent="0">
              <a:spcBef>
                <a:spcPct val="20000"/>
              </a:spcBef>
              <a:buFont typeface="Arial"/>
              <a:buNone/>
              <a:defRPr sz="2800" baseline="0">
                <a:solidFill>
                  <a:schemeClr val="bg1">
                    <a:lumMod val="75000"/>
                  </a:schemeClr>
                </a:solidFill>
              </a:defRPr>
            </a:lvl1pPr>
            <a:lvl2pPr indent="0" algn="ctr">
              <a:spcBef>
                <a:spcPct val="20000"/>
              </a:spcBef>
              <a:buFont typeface="Arial"/>
              <a:buNone/>
              <a:defRPr sz="2800" baseline="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/>
              <a:buNone/>
              <a:defRPr sz="2400" baseline="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/>
              <a:buNone/>
              <a:defRPr sz="2000" baseline="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/>
              <a:buNone/>
              <a:defRPr sz="2000" baseline="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z="20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Presented by: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2991027" y="2862841"/>
            <a:ext cx="8144143" cy="56220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3200" b="1" noProof="0">
                <a:solidFill>
                  <a:schemeClr val="bg1">
                    <a:lumMod val="95000"/>
                  </a:schemeClr>
                </a:solidFill>
              </a:rPr>
              <a:t>Given &amp; Last Name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7" hasCustomPrompt="1"/>
          </p:nvPr>
        </p:nvSpPr>
        <p:spPr>
          <a:xfrm>
            <a:off x="1050925" y="3516767"/>
            <a:ext cx="10083800" cy="602809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2000" dirty="0" smtClean="0"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3200" b="1">
                <a:solidFill>
                  <a:schemeClr val="bg1">
                    <a:lumMod val="85000"/>
                  </a:schemeClr>
                </a:solidFill>
              </a:rPr>
              <a:t>Course ID and Title</a:t>
            </a:r>
          </a:p>
        </p:txBody>
      </p:sp>
    </p:spTree>
    <p:extLst>
      <p:ext uri="{BB962C8B-B14F-4D97-AF65-F5344CB8AC3E}">
        <p14:creationId xmlns:p14="http://schemas.microsoft.com/office/powerpoint/2010/main" val="4190069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574" userDrawn="1">
          <p15:clr>
            <a:srgbClr val="FBAE40"/>
          </p15:clr>
        </p15:guide>
        <p15:guide id="4" pos="7106" userDrawn="1">
          <p15:clr>
            <a:srgbClr val="FBAE40"/>
          </p15:clr>
        </p15:guide>
        <p15:guide id="5" orient="horz" pos="43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  <p15:guide id="7" orient="horz" pos="179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64753"/>
            <a:ext cx="10363200" cy="1560862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2/26/24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3" hasCustomPrompt="1"/>
          </p:nvPr>
        </p:nvSpPr>
        <p:spPr>
          <a:xfrm>
            <a:off x="911468" y="4870093"/>
            <a:ext cx="10363200" cy="1241057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AU" dirty="0"/>
              <a:t>Replace this with a table of units – 2 columns – National ID and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917332" y="4229096"/>
            <a:ext cx="10366132" cy="528637"/>
          </a:xfrm>
        </p:spPr>
        <p:txBody>
          <a:bodyPr>
            <a:normAutofit/>
          </a:bodyPr>
          <a:lstStyle>
            <a:lvl1pPr marL="0" indent="0" algn="l">
              <a:buNone/>
              <a:defRPr sz="2400" b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AU"/>
              <a:t>Week/Session 00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2918188"/>
            <a:ext cx="10360268" cy="598488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AU"/>
              <a:t>Lecture 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17332" y="3610147"/>
            <a:ext cx="10366132" cy="506589"/>
          </a:xfrm>
        </p:spPr>
        <p:txBody>
          <a:bodyPr anchor="ctr">
            <a:noAutofit/>
          </a:bodyPr>
          <a:lstStyle>
            <a:lvl1pPr marL="0" indent="0">
              <a:buNone/>
              <a:defRPr sz="20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AU"/>
              <a:t>Lecturer:	</a:t>
            </a:r>
            <a:r>
              <a:rPr lang="en-AU" err="1"/>
              <a:t>Given_Name</a:t>
            </a:r>
            <a:r>
              <a:rPr lang="en-AU"/>
              <a:t> </a:t>
            </a:r>
            <a:r>
              <a:rPr lang="en-AU" err="1"/>
              <a:t>Family_Name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290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lterna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399" y="3886200"/>
            <a:ext cx="10363199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2/26/24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68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2/26/24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109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94618"/>
            <a:ext cx="10972800" cy="219169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2/26/24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FB0483-D927-6C4B-9F8E-0CBFBED89EA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4182975"/>
            <a:ext cx="10972800" cy="2191699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2527477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AU" noProof="0" smtClean="0"/>
              <a:t>26/2/2024</a:t>
            </a:fld>
            <a:endParaRPr lang="en-A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AU" noProof="0" smtClean="0"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1471725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406903"/>
            <a:ext cx="8514522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906713"/>
            <a:ext cx="851452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2/26/24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7D5DACE-FF0F-2D46-93D3-295ECF1DA8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812656" y="2900636"/>
            <a:ext cx="1769744" cy="2868342"/>
          </a:xfrm>
          <a:prstGeom prst="roundRect">
            <a:avLst>
              <a:gd name="adj" fmla="val 4112"/>
            </a:avLst>
          </a:prstGeom>
          <a:blipFill>
            <a:blip r:embed="rId2"/>
            <a:stretch>
              <a:fillRect l="16" r="16"/>
            </a:stretch>
          </a:blipFill>
          <a:ln w="12700" cap="rnd">
            <a:solidFill>
              <a:srgbClr val="D8262E">
                <a:alpha val="50000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70644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2/26/24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9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65600" y="1600202"/>
            <a:ext cx="7416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2/26/24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B08A67E-3ED8-7842-9A36-FDA51ABEB2A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1" y="1600203"/>
            <a:ext cx="2792484" cy="4525963"/>
          </a:xfrm>
          <a:prstGeom prst="roundRect">
            <a:avLst>
              <a:gd name="adj" fmla="val 3374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4302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2/26/24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379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2/26/24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58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73062"/>
            <a:ext cx="7212496" cy="49118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2/26/24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9126EA6-A663-AD41-9474-BAFD5F86078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16528" y="973063"/>
            <a:ext cx="3030587" cy="4911873"/>
          </a:xfrm>
          <a:prstGeom prst="roundRect">
            <a:avLst>
              <a:gd name="adj" fmla="val 3523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895897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2/26/24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098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2/26/24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9126EA6-A663-AD41-9474-BAFD5F8607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" y="918741"/>
            <a:ext cx="10972800" cy="4948123"/>
          </a:xfrm>
          <a:prstGeom prst="roundRect">
            <a:avLst>
              <a:gd name="adj" fmla="val 1876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1824688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2/26/24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D779252-2DB5-164E-B413-9653D35CC4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51813" y="973063"/>
            <a:ext cx="3030587" cy="4911873"/>
          </a:xfrm>
          <a:prstGeom prst="roundRect">
            <a:avLst>
              <a:gd name="adj" fmla="val 4419"/>
            </a:avLst>
          </a:prstGeom>
          <a:blipFill>
            <a:blip r:embed="rId2">
              <a:alphaModFix/>
            </a:blip>
            <a:stretch>
              <a:fillRect l="16" r="1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FC5ADCF-7EA1-3644-9B75-D84582085E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71513"/>
            <a:ext cx="7416800" cy="5665787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40789277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93776"/>
            <a:ext cx="4011084" cy="94132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93776"/>
            <a:ext cx="6815667" cy="56323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99615"/>
            <a:ext cx="4011084" cy="46265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2/26/24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291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Click icon to add picture</a:t>
            </a:r>
            <a:endParaRPr lang="en-AU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2/26/24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3857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2/26/24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387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2/26/24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698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94617"/>
            <a:ext cx="10972800" cy="4563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82040"/>
            <a:ext cx="28448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6F489C6-6277-454E-AECF-6C3872A9450F}" type="datetimeFigureOut">
              <a:rPr lang="en-US" smtClean="0"/>
              <a:pPr/>
              <a:t>2/26/24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82040"/>
            <a:ext cx="38608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82040"/>
            <a:ext cx="28448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741F46F4-8938-5C4A-A3E0-434D3C3588F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Placeholder 14">
            <a:extLst>
              <a:ext uri="{FF2B5EF4-FFF2-40B4-BE49-F238E27FC236}">
                <a16:creationId xmlns:a16="http://schemas.microsoft.com/office/drawing/2014/main" id="{ED1A118C-2DC5-9B4D-B303-C0863344B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7254"/>
            <a:ext cx="10972799" cy="1248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70132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49" r:id="rId3"/>
    <p:sldLayoutId id="2147483650" r:id="rId4"/>
    <p:sldLayoutId id="2147483665" r:id="rId5"/>
    <p:sldLayoutId id="2147483651" r:id="rId6"/>
    <p:sldLayoutId id="2147483661" r:id="rId7"/>
    <p:sldLayoutId id="2147483652" r:id="rId8"/>
    <p:sldLayoutId id="2147483662" r:id="rId9"/>
    <p:sldLayoutId id="2147483653" r:id="rId10"/>
    <p:sldLayoutId id="2147483654" r:id="rId11"/>
    <p:sldLayoutId id="2147483663" r:id="rId12"/>
    <p:sldLayoutId id="2147483655" r:id="rId13"/>
    <p:sldLayoutId id="2147483664" r:id="rId14"/>
    <p:sldLayoutId id="2147483660" r:id="rId15"/>
    <p:sldLayoutId id="2147483656" r:id="rId16"/>
    <p:sldLayoutId id="2147483657" r:id="rId17"/>
    <p:sldLayoutId id="2147483658" r:id="rId18"/>
    <p:sldLayoutId id="2147483659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4200" b="1" i="0" kern="1200" spc="5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python.org/tutorial/datastructures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EBBAA-E6BC-384B-AB83-C7769FCD00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F5D09-10BA-2E45-941F-1527DC6F44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7332" y="4692736"/>
            <a:ext cx="10366132" cy="528637"/>
          </a:xfrm>
        </p:spPr>
        <p:txBody>
          <a:bodyPr/>
          <a:lstStyle/>
          <a:p>
            <a:r>
              <a:rPr lang="en-US" dirty="0"/>
              <a:t>Session 9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20CB9C-1131-7448-A5E3-D1244AB140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2918188"/>
            <a:ext cx="10360268" cy="1241056"/>
          </a:xfrm>
        </p:spPr>
        <p:txBody>
          <a:bodyPr/>
          <a:lstStyle/>
          <a:p>
            <a:pPr marL="514350" indent="-514350">
              <a:buAutoNum type="arabicParenBoth"/>
            </a:pPr>
            <a:r>
              <a:rPr lang="en-US" dirty="0"/>
              <a:t>Understanding collections</a:t>
            </a:r>
          </a:p>
          <a:p>
            <a:pPr marL="514350" indent="-514350">
              <a:buAutoNum type="arabicParenBoth"/>
            </a:pPr>
            <a:r>
              <a:rPr lang="en-US" dirty="0"/>
              <a:t>List methods and list mutability</a:t>
            </a:r>
          </a:p>
          <a:p>
            <a:pPr marL="514350" indent="-514350">
              <a:buAutoNum type="arabicParenBoth"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051E704-5F39-7AB4-24B4-8DE3C68E326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8E7D32A0-4BFE-FB21-8E06-BFE8486DF0B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19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866776" y="592282"/>
            <a:ext cx="8766572" cy="1312718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00FF00"/>
              </a:buClr>
              <a:buSzPct val="25000"/>
            </a:pPr>
            <a:r>
              <a:rPr lang="en-US" sz="555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List is a Kind of Collection</a:t>
            </a:r>
          </a:p>
        </p:txBody>
      </p:sp>
      <p:sp>
        <p:nvSpPr>
          <p:cNvPr id="175" name="Shape 175"/>
          <p:cNvSpPr txBox="1">
            <a:spLocks noGrp="1"/>
          </p:cNvSpPr>
          <p:nvPr>
            <p:ph type="body" idx="1"/>
          </p:nvPr>
        </p:nvSpPr>
        <p:spPr>
          <a:xfrm>
            <a:off x="866775" y="1952626"/>
            <a:ext cx="10448925" cy="2644379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marL="561975" indent="-278321">
              <a:spcBef>
                <a:spcPts val="0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270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collection</a:t>
            </a: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allows us to put many values in a single </a:t>
            </a:r>
            <a:r>
              <a:rPr lang="en-US" sz="27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7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</a:t>
            </a:r>
            <a:r>
              <a:rPr lang="en-US" sz="27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561975" indent="-278321">
              <a:spcBef>
                <a:spcPts val="2625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270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collection</a:t>
            </a: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nice because we can carry all </a:t>
            </a:r>
            <a:r>
              <a:rPr lang="en-US" sz="2700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many values</a:t>
            </a: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around in one convenient package.</a:t>
            </a:r>
          </a:p>
        </p:txBody>
      </p:sp>
      <p:pic>
        <p:nvPicPr>
          <p:cNvPr id="176" name="Shape 1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58387" y="592282"/>
            <a:ext cx="1918406" cy="157221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Shape 177"/>
          <p:cNvSpPr txBox="1"/>
          <p:nvPr/>
        </p:nvSpPr>
        <p:spPr>
          <a:xfrm>
            <a:off x="1501688" y="4500563"/>
            <a:ext cx="9144000" cy="16609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rgbClr val="00FF00"/>
              </a:buClr>
              <a:buSzPct val="25000"/>
            </a:pPr>
            <a:r>
              <a:rPr lang="en-US" sz="27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270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7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270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[ 'Joseph', 'Glenn', 'Sally' ]</a:t>
            </a:r>
          </a:p>
          <a:p>
            <a:pPr algn="ctr"/>
            <a:endParaRPr sz="2700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rgbClr val="00FF00"/>
              </a:buClr>
              <a:buSzPct val="25000"/>
            </a:pPr>
            <a:r>
              <a:rPr lang="en-US" sz="27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carryon</a:t>
            </a:r>
            <a:r>
              <a:rPr lang="en-US" sz="270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7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270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[ 'socks', 'shirt', 'perfume'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FF00"/>
              </a:buClr>
              <a:buSzPct val="25000"/>
            </a:pPr>
            <a:r>
              <a:rPr lang="en-US" sz="57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Already Use Lists!</a:t>
            </a:r>
          </a:p>
        </p:txBody>
      </p:sp>
      <p:sp>
        <p:nvSpPr>
          <p:cNvPr id="197" name="Shape 197"/>
          <p:cNvSpPr txBox="1"/>
          <p:nvPr/>
        </p:nvSpPr>
        <p:spPr>
          <a:xfrm>
            <a:off x="1421606" y="2130451"/>
            <a:ext cx="6366600" cy="2727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rgbClr val="FFFF00"/>
              </a:buClr>
              <a:buSzPct val="25000"/>
            </a:pPr>
            <a:r>
              <a:rPr lang="en-US" sz="27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7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7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27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7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7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70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[5, 4, 3, 2, 1]</a:t>
            </a:r>
            <a:r>
              <a:rPr lang="en-US" sz="27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7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7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7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7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27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sz="27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70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'Blastoff!'</a:t>
            </a:r>
            <a:r>
              <a:rPr lang="en-US" sz="27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198" name="Shape 198"/>
          <p:cNvSpPr txBox="1"/>
          <p:nvPr/>
        </p:nvSpPr>
        <p:spPr>
          <a:xfrm>
            <a:off x="8318896" y="2252663"/>
            <a:ext cx="1788318" cy="3676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rgbClr val="FF00FF"/>
              </a:buClr>
              <a:buSzPct val="25000"/>
            </a:pPr>
            <a:r>
              <a:rPr lang="en-US" sz="360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  <a:p>
            <a:pPr>
              <a:buClr>
                <a:srgbClr val="FF00FF"/>
              </a:buClr>
              <a:buSzPct val="25000"/>
            </a:pPr>
            <a:r>
              <a:rPr lang="en-US" sz="360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</a:t>
            </a:r>
          </a:p>
          <a:p>
            <a:pPr>
              <a:buClr>
                <a:srgbClr val="FF00FF"/>
              </a:buClr>
              <a:buSzPct val="25000"/>
            </a:pPr>
            <a:r>
              <a:rPr lang="en-US" sz="360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>
              <a:buClr>
                <a:srgbClr val="FF00FF"/>
              </a:buClr>
              <a:buSzPct val="25000"/>
            </a:pPr>
            <a:r>
              <a:rPr lang="en-US" sz="360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  <a:p>
            <a:pPr>
              <a:buClr>
                <a:srgbClr val="FF00FF"/>
              </a:buClr>
              <a:buSzPct val="25000"/>
            </a:pPr>
            <a:r>
              <a:rPr lang="en-US" sz="360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  <a:p>
            <a:pPr>
              <a:buClr>
                <a:srgbClr val="FF00FF"/>
              </a:buClr>
              <a:buSzPct val="25000"/>
            </a:pPr>
            <a:r>
              <a:rPr lang="en-US" sz="360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Blastoff!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FF00"/>
              </a:buClr>
              <a:buSzPct val="25000"/>
            </a:pPr>
            <a:r>
              <a:rPr lang="en-US" sz="495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and Definite Loops - Best Pals</a:t>
            </a:r>
          </a:p>
        </p:txBody>
      </p:sp>
      <p:sp>
        <p:nvSpPr>
          <p:cNvPr id="204" name="Shape 204"/>
          <p:cNvSpPr txBox="1"/>
          <p:nvPr/>
        </p:nvSpPr>
        <p:spPr>
          <a:xfrm>
            <a:off x="959343" y="2567373"/>
            <a:ext cx="5460300" cy="16620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rgbClr val="00FF00"/>
              </a:buClr>
              <a:buSzPct val="25000"/>
            </a:pP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['Joseph', 'Glenn', 'Sally']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 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'Happy New Year:'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 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rgbClr val="FFFF00"/>
              </a:buClr>
              <a:buSzPct val="25000"/>
            </a:pP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'Done!'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205" name="Shape 205"/>
          <p:cNvSpPr txBox="1"/>
          <p:nvPr/>
        </p:nvSpPr>
        <p:spPr>
          <a:xfrm>
            <a:off x="7993857" y="3038325"/>
            <a:ext cx="3707606" cy="16382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rgbClr val="FF00FF"/>
              </a:buClr>
              <a:buSzPct val="25000"/>
            </a:pPr>
            <a:r>
              <a:rPr lang="en-US" sz="240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Joseph</a:t>
            </a:r>
          </a:p>
          <a:p>
            <a:pPr>
              <a:buClr>
                <a:srgbClr val="FF00FF"/>
              </a:buClr>
              <a:buSzPct val="25000"/>
            </a:pPr>
            <a:r>
              <a:rPr lang="en-US" sz="240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Glenn</a:t>
            </a:r>
          </a:p>
          <a:p>
            <a:pPr>
              <a:buClr>
                <a:srgbClr val="FF00FF"/>
              </a:buClr>
              <a:buSzPct val="25000"/>
            </a:pPr>
            <a:r>
              <a:rPr lang="en-US" sz="240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Sally</a:t>
            </a:r>
          </a:p>
          <a:p>
            <a:pPr>
              <a:buClr>
                <a:srgbClr val="FF00FF"/>
              </a:buClr>
              <a:buSzPct val="25000"/>
            </a:pPr>
            <a:r>
              <a:rPr lang="en-US" sz="240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Done!</a:t>
            </a:r>
          </a:p>
        </p:txBody>
      </p:sp>
      <p:cxnSp>
        <p:nvCxnSpPr>
          <p:cNvPr id="206" name="Shape 206"/>
          <p:cNvCxnSpPr/>
          <p:nvPr/>
        </p:nvCxnSpPr>
        <p:spPr>
          <a:xfrm flipH="1">
            <a:off x="6332934" y="3265106"/>
            <a:ext cx="1489884" cy="238904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07" name="Shape 207"/>
          <p:cNvCxnSpPr/>
          <p:nvPr/>
        </p:nvCxnSpPr>
        <p:spPr>
          <a:xfrm flipH="1" flipV="1">
            <a:off x="6348045" y="3504010"/>
            <a:ext cx="1470854" cy="629840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08" name="Shape 208"/>
          <p:cNvCxnSpPr/>
          <p:nvPr/>
        </p:nvCxnSpPr>
        <p:spPr>
          <a:xfrm rot="10800000">
            <a:off x="2928300" y="3870123"/>
            <a:ext cx="4947749" cy="599174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8" name="Shape 204"/>
          <p:cNvSpPr txBox="1"/>
          <p:nvPr/>
        </p:nvSpPr>
        <p:spPr>
          <a:xfrm>
            <a:off x="959343" y="4498194"/>
            <a:ext cx="5460300" cy="16620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rgbClr val="00FF00"/>
              </a:buClr>
              <a:buSzPct val="25000"/>
            </a:pP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 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 </a:t>
            </a:r>
            <a:r>
              <a:rPr lang="en-US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['Joseph', 'Glenn', 'Sally']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 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'Happy New Year:'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 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rgbClr val="FFFF00"/>
              </a:buClr>
              <a:buSzPct val="25000"/>
            </a:pP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'Done!'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00FF"/>
              </a:buClr>
              <a:buSzPct val="25000"/>
            </a:pPr>
            <a:r>
              <a:rPr lang="en-US" sz="57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Looking Inside Lists</a:t>
            </a:r>
          </a:p>
        </p:txBody>
      </p:sp>
      <p:sp>
        <p:nvSpPr>
          <p:cNvPr id="214" name="Shape 214"/>
          <p:cNvSpPr txBox="1">
            <a:spLocks noGrp="1"/>
          </p:cNvSpPr>
          <p:nvPr>
            <p:ph type="body" idx="1"/>
          </p:nvPr>
        </p:nvSpPr>
        <p:spPr>
          <a:xfrm>
            <a:off x="866775" y="1952626"/>
            <a:ext cx="10448925" cy="2314575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7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Just like strings, we can get at any single element in a list using an index specified in</a:t>
            </a:r>
            <a:r>
              <a:rPr lang="en-US" sz="270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square brackets</a:t>
            </a:r>
          </a:p>
        </p:txBody>
      </p:sp>
      <p:pic>
        <p:nvPicPr>
          <p:cNvPr id="215" name="Shape 2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081" y="744682"/>
            <a:ext cx="2052638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Shape 216"/>
          <p:cNvSpPr txBox="1"/>
          <p:nvPr/>
        </p:nvSpPr>
        <p:spPr>
          <a:xfrm>
            <a:off x="1295401" y="4781551"/>
            <a:ext cx="552449" cy="5524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30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866776" y="4238626"/>
            <a:ext cx="1409699" cy="55244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30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Joseph</a:t>
            </a:r>
          </a:p>
        </p:txBody>
      </p:sp>
      <p:sp>
        <p:nvSpPr>
          <p:cNvPr id="218" name="Shape 218"/>
          <p:cNvSpPr txBox="1"/>
          <p:nvPr/>
        </p:nvSpPr>
        <p:spPr>
          <a:xfrm>
            <a:off x="5572125" y="3799276"/>
            <a:ext cx="6117300" cy="1754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 'Joseph', 'Glenn', 'Sally' 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  <a:r>
              <a:rPr lang="en-US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Glenn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  <p:sp>
        <p:nvSpPr>
          <p:cNvPr id="219" name="Shape 219"/>
          <p:cNvSpPr txBox="1"/>
          <p:nvPr/>
        </p:nvSpPr>
        <p:spPr>
          <a:xfrm>
            <a:off x="2705101" y="4781551"/>
            <a:ext cx="552449" cy="5524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30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2276476" y="4238626"/>
            <a:ext cx="1409699" cy="55244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30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Glenn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4114801" y="4781551"/>
            <a:ext cx="552449" cy="5524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30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</p:txBody>
      </p:sp>
      <p:sp>
        <p:nvSpPr>
          <p:cNvPr id="222" name="Shape 222"/>
          <p:cNvSpPr txBox="1"/>
          <p:nvPr/>
        </p:nvSpPr>
        <p:spPr>
          <a:xfrm>
            <a:off x="3686176" y="4238626"/>
            <a:ext cx="1409699" cy="55244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30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 txBox="1">
            <a:spLocks noGrp="1"/>
          </p:cNvSpPr>
          <p:nvPr>
            <p:ph type="title"/>
          </p:nvPr>
        </p:nvSpPr>
        <p:spPr>
          <a:xfrm>
            <a:off x="866775" y="592282"/>
            <a:ext cx="10086975" cy="1312718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00FF00"/>
              </a:buClr>
              <a:buSzPct val="25000"/>
            </a:pPr>
            <a:r>
              <a:rPr lang="en-US" sz="57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are Mutable</a:t>
            </a:r>
          </a:p>
        </p:txBody>
      </p:sp>
      <p:sp>
        <p:nvSpPr>
          <p:cNvPr id="228" name="Shape 228"/>
          <p:cNvSpPr txBox="1">
            <a:spLocks noGrp="1"/>
          </p:cNvSpPr>
          <p:nvPr>
            <p:ph type="body" idx="1"/>
          </p:nvPr>
        </p:nvSpPr>
        <p:spPr>
          <a:xfrm>
            <a:off x="866776" y="1952626"/>
            <a:ext cx="5498306" cy="3867150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indent="-333375">
              <a:spcBef>
                <a:spcPts val="0"/>
              </a:spcBef>
              <a:spcAft>
                <a:spcPts val="750"/>
              </a:spcAft>
              <a:buSzPct val="100000"/>
              <a:buFont typeface="Cabin"/>
            </a:pP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Strings are “</a:t>
            </a:r>
            <a:r>
              <a:rPr lang="en-US" sz="255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immutable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 - we cannot change the contents of a string - we must make a </a:t>
            </a:r>
            <a:r>
              <a:rPr lang="en-US" sz="255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new string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make any change</a:t>
            </a:r>
          </a:p>
          <a:p>
            <a:pPr indent="-333375">
              <a:spcAft>
                <a:spcPts val="750"/>
              </a:spcAft>
              <a:buSzPct val="100000"/>
            </a:pP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are </a:t>
            </a:r>
            <a:r>
              <a:rPr lang="en-US" sz="255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255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mutable</a:t>
            </a:r>
            <a:r>
              <a:rPr lang="en-US" sz="255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 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 we can </a:t>
            </a:r>
            <a:r>
              <a:rPr lang="en-US" sz="255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change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 element of a list using the </a:t>
            </a:r>
            <a:r>
              <a:rPr lang="en-US" sz="2550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index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operator</a:t>
            </a:r>
          </a:p>
        </p:txBody>
      </p:sp>
      <p:sp>
        <p:nvSpPr>
          <p:cNvPr id="229" name="Shape 229"/>
          <p:cNvSpPr txBox="1"/>
          <p:nvPr/>
        </p:nvSpPr>
        <p:spPr>
          <a:xfrm>
            <a:off x="7000726" y="1685925"/>
            <a:ext cx="4848299" cy="44770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'Banana'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  <a:r>
              <a:rPr lang="en-US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'b'</a:t>
            </a:r>
          </a:p>
          <a:p>
            <a:pPr>
              <a:buClr>
                <a:srgbClr val="FF66FF"/>
              </a:buClr>
              <a:buSzPct val="25000"/>
            </a:pPr>
            <a:r>
              <a:rPr lang="en-US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Traceback</a:t>
            </a:r>
            <a:r>
              <a:rPr lang="en-US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>
              <a:buClr>
                <a:srgbClr val="FF66FF"/>
              </a:buClr>
              <a:buSzPct val="25000"/>
            </a:pPr>
            <a:r>
              <a:rPr lang="en-US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TypeError</a:t>
            </a:r>
            <a:r>
              <a:rPr lang="en-US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: '</a:t>
            </a:r>
            <a:r>
              <a:rPr lang="en-US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str</a:t>
            </a:r>
            <a:r>
              <a:rPr lang="en-US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' object does not </a:t>
            </a:r>
          </a:p>
          <a:p>
            <a:pPr>
              <a:buClr>
                <a:srgbClr val="FF66FF"/>
              </a:buClr>
              <a:buSzPct val="25000"/>
            </a:pPr>
            <a:r>
              <a:rPr lang="en-US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support item assignment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.lower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banana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lotto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[2, 14, 26, 41, 63]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lotto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[2, 14, 26, 41, 63]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lotto</a:t>
            </a:r>
            <a:r>
              <a:rPr lang="en-US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</a:t>
            </a:r>
            <a:r>
              <a:rPr lang="en-US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28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lotto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[2, 14, </a:t>
            </a:r>
            <a:r>
              <a:rPr lang="en-US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28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41, 63]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 txBox="1">
            <a:spLocks noGrp="1"/>
          </p:cNvSpPr>
          <p:nvPr>
            <p:ph type="title"/>
          </p:nvPr>
        </p:nvSpPr>
        <p:spPr>
          <a:xfrm>
            <a:off x="866775" y="592282"/>
            <a:ext cx="9858375" cy="1312718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ct val="25000"/>
            </a:pPr>
            <a:r>
              <a:rPr lang="en-US" sz="57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How Long is a List?</a:t>
            </a:r>
          </a:p>
        </p:txBody>
      </p:sp>
      <p:sp>
        <p:nvSpPr>
          <p:cNvPr id="235" name="Shape 235"/>
          <p:cNvSpPr txBox="1">
            <a:spLocks noGrp="1"/>
          </p:cNvSpPr>
          <p:nvPr>
            <p:ph type="body" idx="1"/>
          </p:nvPr>
        </p:nvSpPr>
        <p:spPr>
          <a:xfrm>
            <a:off x="866775" y="1952626"/>
            <a:ext cx="5616179" cy="4276724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indent="-333375">
              <a:spcBef>
                <a:spcPts val="0"/>
              </a:spcBef>
              <a:spcAft>
                <a:spcPts val="750"/>
              </a:spcAft>
              <a:buSzPct val="100000"/>
              <a:buFont typeface="Cabin"/>
            </a:pP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2550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len</a:t>
            </a:r>
            <a:r>
              <a:rPr lang="en-US" sz="255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 takes a </a:t>
            </a:r>
            <a:r>
              <a:rPr lang="en-US" sz="2550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as a parameter and returns the number of </a:t>
            </a:r>
            <a:r>
              <a:rPr lang="en-US" sz="2550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elements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 the </a:t>
            </a:r>
            <a:r>
              <a:rPr lang="en-US" sz="2550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</a:p>
          <a:p>
            <a:pPr indent="-333375">
              <a:spcBef>
                <a:spcPts val="2625"/>
              </a:spcBef>
              <a:spcAft>
                <a:spcPts val="750"/>
              </a:spcAft>
              <a:buSzPct val="100000"/>
              <a:buFont typeface="Cabin"/>
            </a:pP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Actually </a:t>
            </a:r>
            <a:r>
              <a:rPr lang="en-US" sz="2550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len</a:t>
            </a:r>
            <a:r>
              <a:rPr lang="en-US" sz="255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tells us the number of elements of any set or sequence (such as a string...)</a:t>
            </a:r>
          </a:p>
        </p:txBody>
      </p:sp>
      <p:sp>
        <p:nvSpPr>
          <p:cNvPr id="236" name="Shape 236"/>
          <p:cNvSpPr txBox="1"/>
          <p:nvPr/>
        </p:nvSpPr>
        <p:spPr>
          <a:xfrm>
            <a:off x="6929438" y="2657476"/>
            <a:ext cx="4589775" cy="29813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'Hello Bob'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25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22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9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25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[ 1, 2, 'joe', 99]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25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22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4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  <a:p>
            <a:pPr algn="ctr"/>
            <a:endParaRPr sz="2250" b="1" dirty="0"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FF00"/>
              </a:buClr>
              <a:buSzPct val="25000"/>
            </a:pPr>
            <a:r>
              <a:rPr lang="en-US" sz="57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Using the </a:t>
            </a:r>
            <a:r>
              <a:rPr lang="en-US" sz="570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range</a:t>
            </a:r>
            <a:r>
              <a:rPr lang="en-US" sz="570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57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</a:p>
        </p:txBody>
      </p:sp>
      <p:sp>
        <p:nvSpPr>
          <p:cNvPr id="242" name="Shape 242"/>
          <p:cNvSpPr txBox="1">
            <a:spLocks noGrp="1"/>
          </p:cNvSpPr>
          <p:nvPr>
            <p:ph type="body" idx="1"/>
          </p:nvPr>
        </p:nvSpPr>
        <p:spPr>
          <a:xfrm>
            <a:off x="866775" y="1952626"/>
            <a:ext cx="4437460" cy="4276724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indent="-333375">
              <a:spcBef>
                <a:spcPts val="0"/>
              </a:spcBef>
              <a:spcAft>
                <a:spcPts val="750"/>
              </a:spcAft>
              <a:buSzPct val="100000"/>
              <a:buFont typeface="Cabin"/>
            </a:pP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255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range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 </a:t>
            </a:r>
            <a:r>
              <a:rPr lang="en-US" sz="255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returns a list of numbers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range from zero to one less than the </a:t>
            </a:r>
            <a:r>
              <a:rPr lang="en-US" sz="2550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parameter</a:t>
            </a:r>
          </a:p>
          <a:p>
            <a:pPr indent="-333375">
              <a:spcBef>
                <a:spcPts val="2625"/>
              </a:spcBef>
              <a:spcAft>
                <a:spcPts val="750"/>
              </a:spcAft>
              <a:buSzPct val="100000"/>
              <a:buFont typeface="Cabin"/>
            </a:pP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construct an index loop using </a:t>
            </a:r>
            <a:r>
              <a:rPr lang="en-US" sz="255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an integer</a:t>
            </a:r>
            <a:r>
              <a:rPr lang="en-US" sz="255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iterator</a:t>
            </a:r>
          </a:p>
        </p:txBody>
      </p:sp>
      <p:sp>
        <p:nvSpPr>
          <p:cNvPr id="243" name="Shape 243"/>
          <p:cNvSpPr txBox="1"/>
          <p:nvPr/>
        </p:nvSpPr>
        <p:spPr>
          <a:xfrm>
            <a:off x="5794651" y="2266951"/>
            <a:ext cx="5882849" cy="33241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lvl="0"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range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4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rgbClr val="FF7F00"/>
              </a:buClr>
              <a:buSzPct val="25000"/>
            </a:pPr>
            <a:r>
              <a:rPr lang="en-US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[0, 1, 2, 3]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['Joseph', 'Glenn', 'Sally']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range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))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rgbClr val="FF7F00"/>
              </a:buClr>
              <a:buSzPct val="25000"/>
            </a:pPr>
            <a:r>
              <a:rPr lang="en-US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[0, 1, 2]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FF00"/>
              </a:buClr>
              <a:buSzPct val="25000"/>
            </a:pPr>
            <a:r>
              <a:rPr lang="en-US" sz="57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Tale of Two Loops...</a:t>
            </a:r>
          </a:p>
        </p:txBody>
      </p:sp>
      <p:sp>
        <p:nvSpPr>
          <p:cNvPr id="249" name="Shape 249"/>
          <p:cNvSpPr txBox="1"/>
          <p:nvPr/>
        </p:nvSpPr>
        <p:spPr>
          <a:xfrm>
            <a:off x="438713" y="2338800"/>
            <a:ext cx="5381775" cy="26961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rgbClr val="00FF00"/>
              </a:buClr>
              <a:buSzPct val="25000"/>
            </a:pP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['Joseph', 'Glenn', 'Sally']</a:t>
            </a:r>
          </a:p>
          <a:p>
            <a:pPr algn="ctr"/>
            <a:endParaRPr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rgbClr val="FFFF00"/>
              </a:buClr>
              <a:buSzPct val="25000"/>
            </a:pP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 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'Happy New Year:',  </a:t>
            </a:r>
            <a:r>
              <a:rPr lang="en-US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algn="ctr"/>
            <a:endParaRPr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rgbClr val="FFFF00"/>
              </a:buClr>
              <a:buSzPct val="25000"/>
            </a:pP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range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friends)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 :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('Happy New Year:',  </a:t>
            </a:r>
            <a:r>
              <a:rPr lang="en-US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250" name="Shape 250"/>
          <p:cNvSpPr txBox="1"/>
          <p:nvPr/>
        </p:nvSpPr>
        <p:spPr>
          <a:xfrm>
            <a:off x="6079294" y="4239394"/>
            <a:ext cx="4193774" cy="16044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lnSpc>
                <a:spcPct val="115000"/>
              </a:lnSpc>
              <a:buClr>
                <a:srgbClr val="FFFF00"/>
              </a:buClr>
              <a:buSzPct val="25000"/>
            </a:pPr>
            <a:r>
              <a:rPr lang="en-US" sz="225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Joseph</a:t>
            </a:r>
          </a:p>
          <a:p>
            <a:pPr>
              <a:lnSpc>
                <a:spcPct val="115000"/>
              </a:lnSpc>
              <a:buClr>
                <a:srgbClr val="FFFF00"/>
              </a:buClr>
              <a:buSzPct val="25000"/>
            </a:pPr>
            <a:r>
              <a:rPr lang="en-US" sz="225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Glenn</a:t>
            </a:r>
          </a:p>
          <a:p>
            <a:pPr>
              <a:lnSpc>
                <a:spcPct val="115000"/>
              </a:lnSpc>
              <a:buClr>
                <a:srgbClr val="FFFF00"/>
              </a:buClr>
              <a:buSzPct val="25000"/>
            </a:pPr>
            <a:r>
              <a:rPr lang="en-US" sz="225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Sally</a:t>
            </a:r>
          </a:p>
        </p:txBody>
      </p:sp>
      <p:sp>
        <p:nvSpPr>
          <p:cNvPr id="251" name="Shape 251"/>
          <p:cNvSpPr txBox="1"/>
          <p:nvPr/>
        </p:nvSpPr>
        <p:spPr>
          <a:xfrm>
            <a:off x="6079294" y="1882369"/>
            <a:ext cx="5916600" cy="24932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['Joseph', 'Glenn', 'Sally']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range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(friends))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[0, 1, 2]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00FFFF"/>
              </a:buClr>
              <a:buSzPct val="25000"/>
            </a:pPr>
            <a:r>
              <a:rPr lang="en-US" sz="570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Concatenating</a:t>
            </a:r>
            <a:r>
              <a:rPr lang="en-US" sz="57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57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Using </a:t>
            </a:r>
            <a:r>
              <a:rPr lang="en-US" sz="570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+</a:t>
            </a:r>
          </a:p>
        </p:txBody>
      </p:sp>
      <p:sp>
        <p:nvSpPr>
          <p:cNvPr id="257" name="Shape 257"/>
          <p:cNvSpPr txBox="1">
            <a:spLocks noGrp="1"/>
          </p:cNvSpPr>
          <p:nvPr>
            <p:ph type="body" idx="1"/>
          </p:nvPr>
        </p:nvSpPr>
        <p:spPr>
          <a:xfrm>
            <a:off x="1333500" y="2200277"/>
            <a:ext cx="4057650" cy="1952624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create a new list by adding two existing lists together</a:t>
            </a:r>
          </a:p>
        </p:txBody>
      </p:sp>
      <p:sp>
        <p:nvSpPr>
          <p:cNvPr id="258" name="Shape 258"/>
          <p:cNvSpPr txBox="1"/>
          <p:nvPr/>
        </p:nvSpPr>
        <p:spPr>
          <a:xfrm>
            <a:off x="7285706" y="2035576"/>
            <a:ext cx="3724425" cy="29074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[1, 2, 3]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b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[4, 5, 6]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 </a:t>
            </a:r>
            <a:r>
              <a:rPr lang="en-US" sz="2250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b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250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[1, 2, 3, 4, 5, 6]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250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[1, 2, 3]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2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ct val="25000"/>
            </a:pPr>
            <a:r>
              <a:rPr lang="en-US" sz="57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Can Be </a:t>
            </a:r>
            <a:r>
              <a:rPr lang="en-US" sz="570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Sliced</a:t>
            </a:r>
            <a:r>
              <a:rPr lang="en-US" sz="570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57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Using</a:t>
            </a:r>
            <a:r>
              <a:rPr lang="en-US" sz="57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570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</a:t>
            </a:r>
          </a:p>
        </p:txBody>
      </p:sp>
      <p:sp>
        <p:nvSpPr>
          <p:cNvPr id="264" name="Shape 264"/>
          <p:cNvSpPr txBox="1"/>
          <p:nvPr/>
        </p:nvSpPr>
        <p:spPr>
          <a:xfrm>
            <a:off x="721651" y="2156701"/>
            <a:ext cx="5206274" cy="3738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[9, 41, 12, 3, 74, 15]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[1</a:t>
            </a:r>
            <a:r>
              <a:rPr lang="en-US" sz="2250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225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[41,12]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250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225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4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[9, 41, 12, 3]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[3</a:t>
            </a:r>
            <a:r>
              <a:rPr lang="en-US" sz="2250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[3, 74, 15]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250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[9, 41, 12, 3, 74, 15]</a:t>
            </a:r>
          </a:p>
        </p:txBody>
      </p:sp>
      <p:sp>
        <p:nvSpPr>
          <p:cNvPr id="265" name="Shape 265"/>
          <p:cNvSpPr txBox="1"/>
          <p:nvPr/>
        </p:nvSpPr>
        <p:spPr>
          <a:xfrm>
            <a:off x="6380044" y="3025069"/>
            <a:ext cx="4099049" cy="1647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rgbClr val="00FF00"/>
              </a:buClr>
              <a:buSzPct val="25000"/>
            </a:pPr>
            <a:r>
              <a:rPr lang="en-US" sz="27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Remember</a:t>
            </a:r>
            <a:r>
              <a:rPr lang="en-US" sz="27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  Just like in strings, the second number is “</a:t>
            </a:r>
            <a:r>
              <a:rPr lang="en-US" sz="270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up to but not including</a:t>
            </a:r>
            <a:r>
              <a:rPr lang="en-US" sz="27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2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00FF"/>
              </a:buClr>
              <a:buSzPct val="25000"/>
            </a:pPr>
            <a:r>
              <a:rPr lang="en-US" sz="57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 Methods</a:t>
            </a:r>
          </a:p>
        </p:txBody>
      </p:sp>
      <p:sp>
        <p:nvSpPr>
          <p:cNvPr id="271" name="Shape 271"/>
          <p:cNvSpPr txBox="1"/>
          <p:nvPr/>
        </p:nvSpPr>
        <p:spPr>
          <a:xfrm>
            <a:off x="1438913" y="2332801"/>
            <a:ext cx="9032174" cy="24194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25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list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type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&lt;type 'list'&gt;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dir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['append', 'count', 'extend', 'index', 'insert', 'pop', 'remove', 'reverse', 'sort']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  <a:r>
              <a:rPr lang="en-US" sz="27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</p:txBody>
      </p:sp>
      <p:sp>
        <p:nvSpPr>
          <p:cNvPr id="272" name="Shape 272"/>
          <p:cNvSpPr txBox="1"/>
          <p:nvPr/>
        </p:nvSpPr>
        <p:spPr>
          <a:xfrm>
            <a:off x="2184900" y="5342335"/>
            <a:ext cx="7812675" cy="4666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rgbClr val="FFFF00"/>
              </a:buClr>
              <a:buSzPct val="25000"/>
            </a:pPr>
            <a:r>
              <a:rPr lang="en-US" sz="2250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http://docs.python.org/tutorial/datastructures.html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00FF"/>
              </a:buClr>
              <a:buSzPct val="25000"/>
            </a:pPr>
            <a:r>
              <a:rPr lang="en-US" sz="57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Building a List from Scratch</a:t>
            </a:r>
          </a:p>
        </p:txBody>
      </p:sp>
      <p:sp>
        <p:nvSpPr>
          <p:cNvPr id="278" name="Shape 278"/>
          <p:cNvSpPr txBox="1">
            <a:spLocks noGrp="1"/>
          </p:cNvSpPr>
          <p:nvPr>
            <p:ph type="body" idx="1"/>
          </p:nvPr>
        </p:nvSpPr>
        <p:spPr>
          <a:xfrm>
            <a:off x="866776" y="1952626"/>
            <a:ext cx="4726781" cy="4276724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indent="-333375">
              <a:spcBef>
                <a:spcPts val="0"/>
              </a:spcBef>
              <a:spcAft>
                <a:spcPts val="750"/>
              </a:spcAft>
              <a:buSzPct val="100000"/>
              <a:buFont typeface="Cabin"/>
            </a:pP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create an empty </a:t>
            </a:r>
            <a:r>
              <a:rPr lang="en-US" sz="255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then add elements using the </a:t>
            </a:r>
            <a:r>
              <a:rPr lang="en-US" sz="255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append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method</a:t>
            </a:r>
          </a:p>
          <a:p>
            <a:pPr indent="-333375">
              <a:spcBef>
                <a:spcPts val="2625"/>
              </a:spcBef>
              <a:spcAft>
                <a:spcPts val="750"/>
              </a:spcAft>
              <a:buSzPct val="100000"/>
              <a:buFont typeface="Cabin"/>
            </a:pP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255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stays in order and new elements are </a:t>
            </a:r>
            <a:r>
              <a:rPr lang="en-US" sz="255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added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at the end of the </a:t>
            </a:r>
            <a:r>
              <a:rPr lang="en-US" sz="255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</a:p>
        </p:txBody>
      </p:sp>
      <p:sp>
        <p:nvSpPr>
          <p:cNvPr id="279" name="Shape 279"/>
          <p:cNvSpPr txBox="1"/>
          <p:nvPr/>
        </p:nvSpPr>
        <p:spPr>
          <a:xfrm>
            <a:off x="6275382" y="2243138"/>
            <a:ext cx="5591699" cy="33241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25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list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225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.append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('book')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225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.append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(99)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22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['book', 99]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225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.append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('cookie')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22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250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['book', 99, 'cookie']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28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00FF00"/>
              </a:buClr>
              <a:buSzPct val="25000"/>
            </a:pPr>
            <a:r>
              <a:rPr lang="en-US" sz="57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 Something in a List?</a:t>
            </a:r>
          </a:p>
        </p:txBody>
      </p:sp>
      <p:sp>
        <p:nvSpPr>
          <p:cNvPr id="285" name="Shape 285"/>
          <p:cNvSpPr txBox="1">
            <a:spLocks noGrp="1"/>
          </p:cNvSpPr>
          <p:nvPr>
            <p:ph type="body" idx="1"/>
          </p:nvPr>
        </p:nvSpPr>
        <p:spPr>
          <a:xfrm>
            <a:off x="866775" y="1952626"/>
            <a:ext cx="4930379" cy="4276724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indent="-333375">
              <a:spcBef>
                <a:spcPts val="0"/>
              </a:spcBef>
              <a:spcAft>
                <a:spcPts val="750"/>
              </a:spcAft>
              <a:buSzPct val="100000"/>
              <a:buFont typeface="Cabin"/>
            </a:pP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provides two </a:t>
            </a:r>
            <a:r>
              <a:rPr lang="en-US" sz="255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operators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let you check if an item is in a list</a:t>
            </a:r>
          </a:p>
          <a:p>
            <a:pPr indent="-333375">
              <a:spcBef>
                <a:spcPts val="2625"/>
              </a:spcBef>
              <a:spcAft>
                <a:spcPts val="750"/>
              </a:spcAft>
              <a:buSzPct val="100000"/>
              <a:buFont typeface="Cabin"/>
            </a:pP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These are logical operators that return </a:t>
            </a:r>
            <a:r>
              <a:rPr lang="en-US" sz="255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True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or </a:t>
            </a:r>
            <a:r>
              <a:rPr lang="en-US" sz="255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False</a:t>
            </a:r>
          </a:p>
          <a:p>
            <a:pPr indent="-333375">
              <a:spcBef>
                <a:spcPts val="2625"/>
              </a:spcBef>
              <a:spcAft>
                <a:spcPts val="750"/>
              </a:spcAft>
              <a:buSzPct val="100000"/>
              <a:buFont typeface="Cabin"/>
            </a:pP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They do not modify the list</a:t>
            </a:r>
          </a:p>
        </p:txBody>
      </p:sp>
      <p:sp>
        <p:nvSpPr>
          <p:cNvPr id="286" name="Shape 286"/>
          <p:cNvSpPr txBox="1"/>
          <p:nvPr/>
        </p:nvSpPr>
        <p:spPr>
          <a:xfrm>
            <a:off x="6438929" y="2205038"/>
            <a:ext cx="5348260" cy="33241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some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25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[1, 9, 21, 10, 16]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9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2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some</a:t>
            </a:r>
          </a:p>
          <a:p>
            <a:pPr>
              <a:buClr>
                <a:srgbClr val="FF00FF"/>
              </a:buClr>
              <a:buSzPct val="25000"/>
            </a:pPr>
            <a:r>
              <a:rPr lang="en-US" sz="225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15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2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some</a:t>
            </a:r>
          </a:p>
          <a:p>
            <a:pPr>
              <a:buClr>
                <a:srgbClr val="00FF00"/>
              </a:buClr>
              <a:buSzPct val="25000"/>
            </a:pP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False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20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2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not in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2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some</a:t>
            </a:r>
          </a:p>
          <a:p>
            <a:pPr>
              <a:buClr>
                <a:srgbClr val="FF00FF"/>
              </a:buClr>
              <a:buSzPct val="25000"/>
            </a:pPr>
            <a:r>
              <a:rPr lang="en-US" sz="225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ct val="25000"/>
            </a:pPr>
            <a:r>
              <a:rPr lang="en-US" sz="585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are in Order</a:t>
            </a:r>
          </a:p>
        </p:txBody>
      </p:sp>
      <p:sp>
        <p:nvSpPr>
          <p:cNvPr id="292" name="Shape 292"/>
          <p:cNvSpPr txBox="1">
            <a:spLocks noGrp="1"/>
          </p:cNvSpPr>
          <p:nvPr>
            <p:ph type="body" idx="1"/>
          </p:nvPr>
        </p:nvSpPr>
        <p:spPr>
          <a:xfrm>
            <a:off x="466726" y="1952626"/>
            <a:ext cx="4143375" cy="4276724"/>
          </a:xfrm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ctr" anchorCtr="0">
            <a:noAutofit/>
          </a:bodyPr>
          <a:lstStyle/>
          <a:p>
            <a:pPr marL="828675" indent="-443008">
              <a:spcBef>
                <a:spcPts val="0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2550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can hold many items and keeps those items in the order until we do something to change the order</a:t>
            </a:r>
          </a:p>
          <a:p>
            <a:pPr marL="828675" indent="-443008">
              <a:spcBef>
                <a:spcPts val="1725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2550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can be </a:t>
            </a:r>
            <a:r>
              <a:rPr lang="en-US" sz="255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sorted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b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(i.e., change its order)</a:t>
            </a:r>
          </a:p>
          <a:p>
            <a:pPr marL="828675" indent="-443008">
              <a:spcBef>
                <a:spcPts val="1725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255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sort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method (unlike in strings) means “</a:t>
            </a:r>
            <a:r>
              <a:rPr lang="en-US" sz="255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sort yourself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</a:p>
        </p:txBody>
      </p:sp>
      <p:sp>
        <p:nvSpPr>
          <p:cNvPr id="293" name="Shape 293"/>
          <p:cNvSpPr txBox="1"/>
          <p:nvPr/>
        </p:nvSpPr>
        <p:spPr>
          <a:xfrm>
            <a:off x="5078607" y="2280806"/>
            <a:ext cx="6732394" cy="3273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chemeClr val="lt1"/>
              </a:buClr>
              <a:buSzPct val="25000"/>
            </a:pPr>
            <a:r>
              <a:rPr lang="en-US" sz="19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19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19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195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 'Joseph', 'Glenn', 'Sally' 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19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  <a:r>
              <a:rPr lang="en-US" sz="19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195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195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.sort</a:t>
            </a:r>
            <a:r>
              <a:rPr lang="en-US" sz="19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19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19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19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19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1950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chemeClr val="lt1"/>
              </a:buClr>
              <a:buSzPct val="25000"/>
            </a:pPr>
            <a:r>
              <a:rPr lang="en-US" sz="19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['Glenn', 'Joseph', 'Sally']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19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19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19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195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1950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19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  <a:r>
              <a:rPr lang="en-US" sz="1950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19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1950" dirty="0">
              <a:solidFill>
                <a:srgbClr val="00FF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chemeClr val="lt1"/>
              </a:buClr>
              <a:buSzPct val="25000"/>
            </a:pPr>
            <a:r>
              <a:rPr lang="en-US" sz="19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Joseph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19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ct val="25000"/>
            </a:pPr>
            <a:r>
              <a:rPr lang="en-US" sz="57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Built-in Functions and Lists</a:t>
            </a:r>
          </a:p>
        </p:txBody>
      </p:sp>
      <p:sp>
        <p:nvSpPr>
          <p:cNvPr id="299" name="Shape 299"/>
          <p:cNvSpPr txBox="1">
            <a:spLocks noGrp="1"/>
          </p:cNvSpPr>
          <p:nvPr>
            <p:ph type="body" idx="1"/>
          </p:nvPr>
        </p:nvSpPr>
        <p:spPr>
          <a:xfrm>
            <a:off x="866775" y="1952626"/>
            <a:ext cx="4351735" cy="3705225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indent="-333375">
              <a:spcBef>
                <a:spcPts val="0"/>
              </a:spcBef>
              <a:spcAft>
                <a:spcPts val="750"/>
              </a:spcAft>
              <a:buSzPct val="100000"/>
              <a:buFont typeface="Cabin"/>
            </a:pP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There are a number of </a:t>
            </a:r>
            <a:r>
              <a:rPr lang="en-US" sz="255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functions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built into </a:t>
            </a:r>
            <a:r>
              <a:rPr lang="en-US" sz="255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take </a:t>
            </a:r>
            <a:r>
              <a:rPr lang="en-US" sz="255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</a:t>
            </a: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as parameters</a:t>
            </a:r>
          </a:p>
          <a:p>
            <a:pPr indent="-333375">
              <a:spcBef>
                <a:spcPts val="2625"/>
              </a:spcBef>
              <a:spcAft>
                <a:spcPts val="750"/>
              </a:spcAft>
              <a:buSzPct val="100000"/>
              <a:buFont typeface="Cabin"/>
            </a:pPr>
            <a:r>
              <a:rPr lang="en-US" sz="25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Remember the loops we built?  These are much simpler.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5947201" y="1841888"/>
            <a:ext cx="5914349" cy="4155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[3, 41, 12, 9, 74, 15]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25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25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22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250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6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25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max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25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22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250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74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25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min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25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22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250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25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sum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25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22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250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154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2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25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sum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25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)/</a:t>
            </a:r>
            <a:r>
              <a:rPr lang="en-US" sz="225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25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nums</a:t>
            </a: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225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250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chemeClr val="lt1"/>
              </a:buClr>
              <a:buSzPct val="25000"/>
            </a:pPr>
            <a:r>
              <a:rPr lang="en-US" sz="225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25.6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 txBox="1"/>
          <p:nvPr/>
        </p:nvSpPr>
        <p:spPr>
          <a:xfrm>
            <a:off x="1894557" y="1544231"/>
            <a:ext cx="6666974" cy="2493225"/>
          </a:xfrm>
          <a:prstGeom prst="rect">
            <a:avLst/>
          </a:prstGeom>
          <a:noFill/>
          <a:ln w="12700" cap="rnd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rgbClr val="00FF00"/>
              </a:buClr>
              <a:buSzPct val="25000"/>
            </a:pP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open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</a:t>
            </a:r>
            <a:r>
              <a:rPr lang="en-US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mbox-short.txt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for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fhand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.rstrip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 not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.startswith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('From ') : 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continue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words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.split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words</a:t>
            </a:r>
            <a:r>
              <a:rPr lang="en-US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[2]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>
              <a:buClr>
                <a:schemeClr val="lt1"/>
              </a:buClr>
              <a:buSzPct val="25000"/>
            </a:pPr>
            <a:endParaRPr lang="en-US" b="1" dirty="0">
              <a:solidFill>
                <a:srgbClr val="00FF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27" name="Shape 327"/>
          <p:cNvSpPr txBox="1"/>
          <p:nvPr/>
        </p:nvSpPr>
        <p:spPr>
          <a:xfrm>
            <a:off x="10153650" y="1747838"/>
            <a:ext cx="612000" cy="2076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lnSpc>
                <a:spcPct val="115000"/>
              </a:lnSpc>
              <a:buClr>
                <a:srgbClr val="FF00FF"/>
              </a:buClr>
              <a:buSzPct val="25000"/>
            </a:pPr>
            <a:r>
              <a:rPr lang="en-US" sz="225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Sat</a:t>
            </a:r>
          </a:p>
          <a:p>
            <a:pPr>
              <a:lnSpc>
                <a:spcPct val="115000"/>
              </a:lnSpc>
              <a:buClr>
                <a:srgbClr val="FF00FF"/>
              </a:buClr>
              <a:buSzPct val="25000"/>
            </a:pPr>
            <a:r>
              <a:rPr lang="en-US" sz="225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Fri</a:t>
            </a:r>
          </a:p>
          <a:p>
            <a:pPr>
              <a:lnSpc>
                <a:spcPct val="115000"/>
              </a:lnSpc>
              <a:buClr>
                <a:srgbClr val="FF00FF"/>
              </a:buClr>
              <a:buSzPct val="25000"/>
            </a:pPr>
            <a:r>
              <a:rPr lang="en-US" sz="225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Fri</a:t>
            </a:r>
          </a:p>
          <a:p>
            <a:pPr>
              <a:lnSpc>
                <a:spcPct val="115000"/>
              </a:lnSpc>
              <a:buClr>
                <a:srgbClr val="FF00FF"/>
              </a:buClr>
              <a:buSzPct val="25000"/>
            </a:pPr>
            <a:r>
              <a:rPr lang="en-US" sz="225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Fri</a:t>
            </a:r>
          </a:p>
          <a:p>
            <a:pPr>
              <a:lnSpc>
                <a:spcPct val="115000"/>
              </a:lnSpc>
              <a:buClr>
                <a:srgbClr val="FF00FF"/>
              </a:buClr>
              <a:buSzPct val="25000"/>
            </a:pPr>
            <a:r>
              <a:rPr lang="en-US" sz="225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  ...</a:t>
            </a:r>
          </a:p>
        </p:txBody>
      </p:sp>
      <p:sp>
        <p:nvSpPr>
          <p:cNvPr id="328" name="Shape 328"/>
          <p:cNvSpPr txBox="1"/>
          <p:nvPr/>
        </p:nvSpPr>
        <p:spPr>
          <a:xfrm>
            <a:off x="481988" y="709332"/>
            <a:ext cx="9802574" cy="504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chemeClr val="lt1"/>
              </a:buClr>
              <a:buSzPct val="25000"/>
            </a:pPr>
            <a:r>
              <a:rPr lang="en-US"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From stephen.marquard@uct.ac.za </a:t>
            </a:r>
            <a:r>
              <a:rPr lang="en-US" sz="270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Sat</a:t>
            </a:r>
            <a:r>
              <a:rPr lang="en-US"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Jan  5 09:14:16 2008</a:t>
            </a:r>
          </a:p>
        </p:txBody>
      </p:sp>
      <p:sp>
        <p:nvSpPr>
          <p:cNvPr id="329" name="Shape 329"/>
          <p:cNvSpPr txBox="1"/>
          <p:nvPr/>
        </p:nvSpPr>
        <p:spPr>
          <a:xfrm>
            <a:off x="909282" y="4500563"/>
            <a:ext cx="10712474" cy="2076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lvl="0"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'From </a:t>
            </a:r>
            <a:r>
              <a:rPr lang="en-US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stephen.marquard@uct.ac.za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Sat Jan  5 09:14:16 2008'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words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.split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words</a:t>
            </a:r>
            <a:r>
              <a:rPr lang="en-US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['From', '</a:t>
            </a:r>
            <a:r>
              <a:rPr lang="en-US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stephen.marquard@uct.ac.za</a:t>
            </a: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'Sat', 'Jan', '5', '09:14:16', '2008']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Shape 37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00FF00"/>
              </a:buClr>
              <a:buSzPct val="25000"/>
            </a:pPr>
            <a:r>
              <a:rPr lang="en-US" sz="57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 Summary</a:t>
            </a:r>
          </a:p>
        </p:txBody>
      </p:sp>
      <p:sp>
        <p:nvSpPr>
          <p:cNvPr id="375" name="Shape 375"/>
          <p:cNvSpPr txBox="1"/>
          <p:nvPr/>
        </p:nvSpPr>
        <p:spPr>
          <a:xfrm>
            <a:off x="580706" y="2050425"/>
            <a:ext cx="5587875" cy="3832650"/>
          </a:xfrm>
          <a:prstGeom prst="rect">
            <a:avLst/>
          </a:prstGeom>
          <a:noFill/>
          <a:ln>
            <a:noFill/>
          </a:ln>
        </p:spPr>
        <p:txBody>
          <a:bodyPr lIns="28575" tIns="28575" rIns="28575" bIns="28575" anchor="t" anchorCtr="0">
            <a:noAutofit/>
          </a:bodyPr>
          <a:lstStyle/>
          <a:p>
            <a:pPr marL="514350" indent="-295847"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27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Concept of a collection</a:t>
            </a:r>
          </a:p>
          <a:p>
            <a:pPr marL="514350" indent="-295847">
              <a:spcBef>
                <a:spcPts val="2625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Lists and definite loops</a:t>
            </a:r>
          </a:p>
          <a:p>
            <a:pPr marL="514350" indent="-295847">
              <a:spcBef>
                <a:spcPts val="2625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Indexing and lookup</a:t>
            </a:r>
          </a:p>
          <a:p>
            <a:pPr marL="514350" indent="-295847">
              <a:spcBef>
                <a:spcPts val="2625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 mutability</a:t>
            </a:r>
          </a:p>
          <a:p>
            <a:pPr marL="514350" indent="-295847">
              <a:spcBef>
                <a:spcPts val="2625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Functions: </a:t>
            </a:r>
            <a:r>
              <a:rPr lang="en-US" sz="2700" dirty="0" err="1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len</a:t>
            </a:r>
            <a:r>
              <a:rPr lang="en-US" sz="27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, min, max, sum</a:t>
            </a:r>
          </a:p>
        </p:txBody>
      </p:sp>
      <p:sp>
        <p:nvSpPr>
          <p:cNvPr id="376" name="Shape 376"/>
          <p:cNvSpPr txBox="1"/>
          <p:nvPr/>
        </p:nvSpPr>
        <p:spPr>
          <a:xfrm>
            <a:off x="5949731" y="2050425"/>
            <a:ext cx="5674050" cy="3832650"/>
          </a:xfrm>
          <a:prstGeom prst="rect">
            <a:avLst/>
          </a:prstGeom>
          <a:noFill/>
          <a:ln>
            <a:noFill/>
          </a:ln>
        </p:spPr>
        <p:txBody>
          <a:bodyPr lIns="28575" tIns="28575" rIns="28575" bIns="28575" anchor="t" anchorCtr="0">
            <a:noAutofit/>
          </a:bodyPr>
          <a:lstStyle/>
          <a:p>
            <a:pPr marL="514350" indent="-295847">
              <a:spcBef>
                <a:spcPts val="2625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27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Slicing lists</a:t>
            </a:r>
          </a:p>
          <a:p>
            <a:pPr marL="514350" indent="-295847">
              <a:spcBef>
                <a:spcPts val="2625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27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 methods: append,  remove</a:t>
            </a:r>
          </a:p>
          <a:p>
            <a:pPr marL="514350" indent="-295847">
              <a:spcBef>
                <a:spcPts val="2625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27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Sorting lists</a:t>
            </a:r>
          </a:p>
          <a:p>
            <a:pPr marL="514350" indent="-295847">
              <a:spcBef>
                <a:spcPts val="2625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27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Splitting strings into lists of words</a:t>
            </a:r>
          </a:p>
          <a:p>
            <a:pPr marL="514350" indent="-295847">
              <a:spcBef>
                <a:spcPts val="2625"/>
              </a:spcBef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27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Using split to parse strings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SMS Availabilities&amp;#x0D;&amp;#x0A;Overview&amp;quot;&quot;/&gt;&lt;property id=&quot;20307&quot; value=&quot;256&quot;/&gt;&lt;/object&gt;&lt;object type=&quot;3&quot; unique_id=&quot;10005&quot;&gt;&lt;property id=&quot;20148&quot; value=&quot;5&quot;/&gt;&lt;property id=&quot;20300&quot; value=&quot;Slide 2&quot;/&gt;&lt;property id=&quot;20307&quot; value=&quot;257&quot;/&gt;&lt;/object&gt;&lt;object type=&quot;3&quot; unique_id=&quot;10006&quot;&gt;&lt;property id=&quot;20148&quot; value=&quot;5&quot;/&gt;&lt;property id=&quot;20300&quot; value=&quot;Slide 3 - &amp;quot;&amp;#x0D;&amp;#x0A;Course Availabilities&amp;quot;&quot;/&gt;&lt;property id=&quot;20307&quot; value=&quot;261&quot;/&gt;&lt;/object&gt;&lt;object type=&quot;3&quot; unique_id=&quot;10007&quot;&gt;&lt;property id=&quot;20148&quot; value=&quot;5&quot;/&gt;&lt;property id=&quot;20300&quot; value=&quot;Slide 4 - &amp;quot;Intake Calendars&amp;quot;&quot;/&gt;&lt;property id=&quot;20307&quot; value=&quot;264&quot;/&gt;&lt;/object&gt;&lt;object type=&quot;3&quot; unique_id=&quot;10008&quot;&gt;&lt;property id=&quot;20148&quot; value=&quot;5&quot;/&gt;&lt;property id=&quot;20300&quot; value=&quot;Slide 5 - &amp;quot;&amp;#x0D;&amp;#x0A;Unit Availabilities&amp;quot;&quot;/&gt;&lt;property id=&quot;20307&quot; value=&quot;259&quot;/&gt;&lt;/object&gt;&lt;object type=&quot;3&quot; unique_id=&quot;10009&quot;&gt;&lt;property id=&quot;20148&quot; value=&quot;5&quot;/&gt;&lt;property id=&quot;20300&quot; value=&quot;Slide 6 - &amp;quot;&amp;#x0D;&amp;#x0A;Unit Availabilities&amp;quot;&quot;/&gt;&lt;property id=&quot;20307&quot; value=&quot;260&quot;/&gt;&lt;/object&gt;&lt;object type=&quot;3&quot; unique_id=&quot;10010&quot;&gt;&lt;property id=&quot;20148&quot; value=&quot;5&quot;/&gt;&lt;property id=&quot;20300&quot; value=&quot;Slide 7 - &amp;quot;Enrolment Calendars&amp;quot;&quot;/&gt;&lt;property id=&quot;20307&quot; value=&quot;265&quot;/&gt;&lt;/object&gt;&lt;object type=&quot;3&quot; unique_id=&quot;10011&quot;&gt;&lt;property id=&quot;20148&quot; value=&quot;5&quot;/&gt;&lt;property id=&quot;20300&quot; value=&quot;Slide 8 - &amp;quot;Business Guidelines&amp;quot;&quot;/&gt;&lt;property id=&quot;20307&quot; value=&quot;268&quot;/&gt;&lt;/object&gt;&lt;object type=&quot;3&quot; unique_id=&quot;10012&quot;&gt;&lt;property id=&quot;20148&quot; value=&quot;5&quot;/&gt;&lt;property id=&quot;20300&quot; value=&quot;Slide 9 - &amp;quot;Business Guidelines&amp;quot;&quot;/&gt;&lt;property id=&quot;20307&quot; value=&quot;269&quot;/&gt;&lt;/object&gt;&lt;object type=&quot;3&quot; unique_id=&quot;10013&quot;&gt;&lt;property id=&quot;20148&quot; value=&quot;5&quot;/&gt;&lt;property id=&quot;20300&quot; value=&quot;Slide 10 - &amp;quot;Business Considerations&amp;quot;&quot;/&gt;&lt;property id=&quot;20307&quot; value=&quot;262&quot;/&gt;&lt;/object&gt;&lt;object type=&quot;3&quot; unique_id=&quot;10014&quot;&gt;&lt;property id=&quot;20148&quot; value=&quot;5&quot;/&gt;&lt;property id=&quot;20300&quot; value=&quot;Slide 11 - &amp;quot;Availabilities tasks&amp;quot;&quot;/&gt;&lt;property id=&quot;20307&quot; value=&quot;266&quot;/&gt;&lt;/object&gt;&lt;object type=&quot;3&quot; unique_id=&quot;10015&quot;&gt;&lt;property id=&quot;20148&quot; value=&quot;5&quot;/&gt;&lt;property id=&quot;20300&quot; value=&quot;Slide 12 - &amp;quot;Availabilities Template&amp;quot;&quot;/&gt;&lt;property id=&quot;20307&quot; value=&quot;267&quot;/&gt;&lt;/object&gt;&lt;object type=&quot;3&quot; unique_id=&quot;10016&quot;&gt;&lt;property id=&quot;20148&quot; value=&quot;5&quot;/&gt;&lt;property id=&quot;20300&quot; value=&quot;Slide 13 - &amp;quot;Timetabling&amp;quot;&quot;/&gt;&lt;property id=&quot;20307&quot; value=&quot;263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AFE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MT-Presentation-HD-1920x1080-AJG-V2020.05.14.potx" id="{65AE90C9-1F4F-4671-A90D-218C982486A1}" vid="{C1F87A47-8314-4C75-8707-71F446DE83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5E654056D58A47AA1AB158F7447227" ma:contentTypeVersion="13" ma:contentTypeDescription="Create a new document." ma:contentTypeScope="" ma:versionID="6a73135bdeb2a6025ed71a78c35e1493">
  <xsd:schema xmlns:xsd="http://www.w3.org/2001/XMLSchema" xmlns:xs="http://www.w3.org/2001/XMLSchema" xmlns:p="http://schemas.microsoft.com/office/2006/metadata/properties" xmlns:ns2="a5d4b606-e216-4a12-b5e0-256bbcdf3e40" xmlns:ns3="d30896e8-62f2-4107-a799-a577dc6441e1" targetNamespace="http://schemas.microsoft.com/office/2006/metadata/properties" ma:root="true" ma:fieldsID="6d487abba588268ce0728dd40265c972" ns2:_="" ns3:_="">
    <xsd:import namespace="a5d4b606-e216-4a12-b5e0-256bbcdf3e40"/>
    <xsd:import namespace="d30896e8-62f2-4107-a799-a577dc6441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d4b606-e216-4a12-b5e0-256bbcdf3e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0896e8-62f2-4107-a799-a577dc6441e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F79D9B-5A67-492D-BB4F-F3913BAD9421}">
  <ds:schemaRefs>
    <ds:schemaRef ds:uri="http://schemas.microsoft.com/office/2006/metadata/properties"/>
    <ds:schemaRef ds:uri="a5d4b606-e216-4a12-b5e0-256bbcdf3e40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d30896e8-62f2-4107-a799-a577dc6441e1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A9CE8C3-CD74-44D7-9A23-34EAFAD8A7AF}">
  <ds:schemaRefs>
    <ds:schemaRef ds:uri="a5d4b606-e216-4a12-b5e0-256bbcdf3e40"/>
    <ds:schemaRef ds:uri="d30896e8-62f2-4107-a799-a577dc6441e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93B4755-80B4-4FE9-9650-4C80064448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NMT-Presentation-HD-1920x1080-AJG-V2020.05.25</Template>
  <TotalTime>13442</TotalTime>
  <Words>1352</Words>
  <Application>Microsoft Macintosh PowerPoint</Application>
  <PresentationFormat>Widescreen</PresentationFormat>
  <Paragraphs>206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Cabin</vt:lpstr>
      <vt:lpstr>Calibri</vt:lpstr>
      <vt:lpstr>Century Gothic</vt:lpstr>
      <vt:lpstr>Courier</vt:lpstr>
      <vt:lpstr>Office Theme</vt:lpstr>
      <vt:lpstr>Lists</vt:lpstr>
      <vt:lpstr>A List is a Kind of Collection</vt:lpstr>
      <vt:lpstr>We Already Use Lists!</vt:lpstr>
      <vt:lpstr>Lists and Definite Loops - Best Pals</vt:lpstr>
      <vt:lpstr>Looking Inside Lists</vt:lpstr>
      <vt:lpstr>Lists are Mutable</vt:lpstr>
      <vt:lpstr>How Long is a List?</vt:lpstr>
      <vt:lpstr>Using the range Function</vt:lpstr>
      <vt:lpstr>A Tale of Two Loops...</vt:lpstr>
      <vt:lpstr>Concatenating Lists Using +</vt:lpstr>
      <vt:lpstr>Lists Can Be Sliced Using :</vt:lpstr>
      <vt:lpstr>List Methods</vt:lpstr>
      <vt:lpstr>Building a List from Scratch</vt:lpstr>
      <vt:lpstr>Is Something in a List?</vt:lpstr>
      <vt:lpstr>Lists are in Order</vt:lpstr>
      <vt:lpstr>Built-in Functions and Lists</vt:lpstr>
      <vt:lpstr>PowerPoint Presentation</vt:lpstr>
      <vt:lpstr>List Summary</vt:lpstr>
    </vt:vector>
  </TitlesOfParts>
  <Manager/>
  <Company>North Metro TAFE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Adding JetBrains CLI Scripts to Laragon</dc:title>
  <dc:subject>Powerpoint presentation template (G076C)</dc:subject>
  <dc:creator>Adrian Gould</dc:creator>
  <cp:keywords>HD 1920x1080 powerpoint presentation template</cp:keywords>
  <dc:description/>
  <cp:lastModifiedBy>John Robertson</cp:lastModifiedBy>
  <cp:revision>16</cp:revision>
  <cp:lastPrinted>2020-09-29T02:41:13Z</cp:lastPrinted>
  <dcterms:created xsi:type="dcterms:W3CDTF">2020-06-09T02:13:16Z</dcterms:created>
  <dcterms:modified xsi:type="dcterms:W3CDTF">2024-02-26T03:39:46Z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0x0101002E5E654056D58A47AA1AB158F7447227</vt:lpwstr>
  </property>
</Properties>
</file>